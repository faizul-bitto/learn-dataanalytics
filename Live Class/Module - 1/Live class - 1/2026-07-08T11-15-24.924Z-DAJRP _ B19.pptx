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9" r:id="rId2"/>
  </p:sldMasterIdLst>
  <p:notesMasterIdLst>
    <p:notesMasterId r:id="rId17"/>
  </p:notesMasterIdLst>
  <p:sldIdLst>
    <p:sldId id="256" r:id="rId3"/>
    <p:sldId id="297" r:id="rId4"/>
    <p:sldId id="298" r:id="rId5"/>
    <p:sldId id="300" r:id="rId6"/>
    <p:sldId id="301" r:id="rId7"/>
    <p:sldId id="302" r:id="rId8"/>
    <p:sldId id="307" r:id="rId9"/>
    <p:sldId id="308" r:id="rId10"/>
    <p:sldId id="309" r:id="rId11"/>
    <p:sldId id="258" r:id="rId12"/>
    <p:sldId id="306" r:id="rId13"/>
    <p:sldId id="304" r:id="rId14"/>
    <p:sldId id="257" r:id="rId15"/>
    <p:sldId id="303" r:id="rId16"/>
  </p:sldIdLst>
  <p:sldSz cx="14630400" cy="8229600"/>
  <p:notesSz cx="8229600" cy="14630400"/>
  <p:embeddedFontLst>
    <p:embeddedFont>
      <p:font typeface="Barlow" panose="00000500000000000000" pitchFamily="2" charset="0"/>
      <p:regular r:id="rId18"/>
      <p:bold r:id="rId19"/>
      <p:italic r:id="rId20"/>
    </p:embeddedFont>
    <p:embeddedFont>
      <p:font typeface="Instrument Sans Medium" panose="020B0604020202020204" charset="0"/>
      <p:regular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Prata" panose="020B0604020202020204" charset="0"/>
      <p:regular r:id="rId26"/>
    </p:embeddedFont>
    <p:embeddedFont>
      <p:font typeface="Raleway" pitchFamily="2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DDDA"/>
    <a:srgbClr val="117D43"/>
    <a:srgbClr val="FFC000"/>
    <a:srgbClr val="F5F5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63" autoAdjust="0"/>
    <p:restoredTop sz="90581" autoAdjust="0"/>
  </p:normalViewPr>
  <p:slideViewPr>
    <p:cSldViewPr snapToGrid="0" snapToObjects="1">
      <p:cViewPr varScale="1">
        <p:scale>
          <a:sx n="63" d="100"/>
          <a:sy n="63" d="100"/>
        </p:scale>
        <p:origin x="143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3870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25A55A-0EEF-57DE-6990-C76B6155E392}"/>
              </a:ext>
            </a:extLst>
          </p:cNvPr>
          <p:cNvSpPr/>
          <p:nvPr userDrawn="1"/>
        </p:nvSpPr>
        <p:spPr>
          <a:xfrm>
            <a:off x="5" y="5615"/>
            <a:ext cx="14630400" cy="91440"/>
          </a:xfrm>
          <a:prstGeom prst="roundRect">
            <a:avLst/>
          </a:prstGeom>
          <a:solidFill>
            <a:srgbClr val="117D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43222E-4CCA-E6D7-835F-7737C8E071A4}"/>
              </a:ext>
            </a:extLst>
          </p:cNvPr>
          <p:cNvSpPr/>
          <p:nvPr userDrawn="1"/>
        </p:nvSpPr>
        <p:spPr>
          <a:xfrm>
            <a:off x="5" y="5615"/>
            <a:ext cx="14630400" cy="91440"/>
          </a:xfrm>
          <a:prstGeom prst="roundRect">
            <a:avLst/>
          </a:prstGeom>
          <a:solidFill>
            <a:srgbClr val="117D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3C8CF6-4B38-D106-4F5A-6977A278B2B5}"/>
              </a:ext>
            </a:extLst>
          </p:cNvPr>
          <p:cNvSpPr/>
          <p:nvPr userDrawn="1"/>
        </p:nvSpPr>
        <p:spPr>
          <a:xfrm>
            <a:off x="5" y="5615"/>
            <a:ext cx="14630400" cy="91440"/>
          </a:xfrm>
          <a:prstGeom prst="roundRect">
            <a:avLst/>
          </a:prstGeom>
          <a:solidFill>
            <a:srgbClr val="117D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ED1876-6D05-D076-70FE-076BA3B4F46C}"/>
              </a:ext>
            </a:extLst>
          </p:cNvPr>
          <p:cNvSpPr/>
          <p:nvPr userDrawn="1"/>
        </p:nvSpPr>
        <p:spPr>
          <a:xfrm>
            <a:off x="5" y="5615"/>
            <a:ext cx="14630400" cy="91440"/>
          </a:xfrm>
          <a:prstGeom prst="roundRect">
            <a:avLst/>
          </a:prstGeom>
          <a:solidFill>
            <a:srgbClr val="117D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409893C-BC1F-39CA-EBB2-56667CD148FC}"/>
              </a:ext>
            </a:extLst>
          </p:cNvPr>
          <p:cNvSpPr/>
          <p:nvPr userDrawn="1"/>
        </p:nvSpPr>
        <p:spPr>
          <a:xfrm>
            <a:off x="5" y="5615"/>
            <a:ext cx="14630400" cy="91440"/>
          </a:xfrm>
          <a:prstGeom prst="roundRect">
            <a:avLst/>
          </a:prstGeom>
          <a:solidFill>
            <a:srgbClr val="117D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7622B5-2036-FF4E-ED17-7775E1B58AC7}"/>
              </a:ext>
            </a:extLst>
          </p:cNvPr>
          <p:cNvSpPr/>
          <p:nvPr userDrawn="1"/>
        </p:nvSpPr>
        <p:spPr>
          <a:xfrm>
            <a:off x="5" y="5615"/>
            <a:ext cx="14630400" cy="91440"/>
          </a:xfrm>
          <a:prstGeom prst="roundRect">
            <a:avLst/>
          </a:prstGeom>
          <a:solidFill>
            <a:srgbClr val="117D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51147F-3016-6C36-09C2-EF332FEE18D9}"/>
              </a:ext>
            </a:extLst>
          </p:cNvPr>
          <p:cNvSpPr/>
          <p:nvPr userDrawn="1"/>
        </p:nvSpPr>
        <p:spPr>
          <a:xfrm>
            <a:off x="5" y="5615"/>
            <a:ext cx="14630400" cy="91440"/>
          </a:xfrm>
          <a:prstGeom prst="roundRect">
            <a:avLst/>
          </a:prstGeom>
          <a:solidFill>
            <a:srgbClr val="117D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3663A68-D9AF-B80B-575F-075B6A3989D7}"/>
              </a:ext>
            </a:extLst>
          </p:cNvPr>
          <p:cNvSpPr/>
          <p:nvPr userDrawn="1"/>
        </p:nvSpPr>
        <p:spPr>
          <a:xfrm>
            <a:off x="5" y="5615"/>
            <a:ext cx="14630400" cy="91440"/>
          </a:xfrm>
          <a:prstGeom prst="roundRect">
            <a:avLst/>
          </a:prstGeom>
          <a:solidFill>
            <a:srgbClr val="117D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38170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E7016-64C3-5D52-08FE-6381CA9BA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32BA6F-5CAF-A104-9883-9B61919A8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2D78E-928C-7315-297E-49599F7E4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35DCB-E800-D66C-D6A8-D09792FA9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EB85C-B93B-46CD-B886-589457AB26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29BD37A-7666-2D08-9686-4D7854A6CC2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75386" y="2743200"/>
            <a:ext cx="2796540" cy="3392806"/>
          </a:xfrm>
        </p:spPr>
        <p:txBody>
          <a:bodyPr/>
          <a:lstStyle/>
          <a:p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69A925AF-EC81-4212-1C5C-C0EBD7F5F4A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18660" y="2742654"/>
            <a:ext cx="2796540" cy="3392806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BC8D5B5-5E13-4274-B25B-C5FFFDC68E6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945585" y="2742654"/>
            <a:ext cx="2796540" cy="3392806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5F80037-4ED0-36A1-C9F3-CDB8E10827A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32122" y="2742654"/>
            <a:ext cx="2796540" cy="3392806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8A60241-BBEC-C01B-A6B6-E7890984DB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75386" y="6309360"/>
            <a:ext cx="2796540" cy="647700"/>
          </a:xfrm>
        </p:spPr>
        <p:txBody>
          <a:bodyPr/>
          <a:lstStyle/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D57BE30-0C4C-A0F2-46FC-DADD45725D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18660" y="6309360"/>
            <a:ext cx="2796540" cy="647700"/>
          </a:xfrm>
        </p:spPr>
        <p:txBody>
          <a:bodyPr/>
          <a:lstStyle/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0005190-A699-5147-0E7E-0D3A129445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32122" y="6309360"/>
            <a:ext cx="2796540" cy="647700"/>
          </a:xfrm>
        </p:spPr>
        <p:txBody>
          <a:bodyPr/>
          <a:lstStyle/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C2B3574-9D8F-7486-DA8C-C12A99C9EE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45585" y="6309360"/>
            <a:ext cx="2796540" cy="647700"/>
          </a:xfrm>
        </p:spPr>
        <p:txBody>
          <a:bodyPr/>
          <a:lstStyle/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5845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2130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25A55A-0EEF-57DE-6990-C76B6155E392}"/>
              </a:ext>
            </a:extLst>
          </p:cNvPr>
          <p:cNvSpPr/>
          <p:nvPr userDrawn="1"/>
        </p:nvSpPr>
        <p:spPr>
          <a:xfrm>
            <a:off x="5" y="5615"/>
            <a:ext cx="14630400" cy="91440"/>
          </a:xfrm>
          <a:prstGeom prst="roundRect">
            <a:avLst/>
          </a:prstGeom>
          <a:solidFill>
            <a:srgbClr val="117D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 descr="A green square with a white x&#10;&#10;AI-generated content may be incorrect.">
            <a:extLst>
              <a:ext uri="{FF2B5EF4-FFF2-40B4-BE49-F238E27FC236}">
                <a16:creationId xmlns:a16="http://schemas.microsoft.com/office/drawing/2014/main" id="{29A97F0C-ECE7-FF84-8EC3-8D9C348E16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703" b="95270" l="9705" r="89451">
                        <a14:foregroundMark x1="40506" y1="28378" x2="28270" y2="32432"/>
                        <a14:foregroundMark x1="28270" y1="32432" x2="29958" y2="63514"/>
                        <a14:foregroundMark x1="29958" y1="63514" x2="47257" y2="56757"/>
                        <a14:foregroundMark x1="47257" y1="56757" x2="45570" y2="36486"/>
                        <a14:foregroundMark x1="45570" y1="36486" x2="39662" y2="30405"/>
                        <a14:foregroundMark x1="38660" y1="5405" x2="48945" y2="2027"/>
                        <a14:foregroundMark x1="48945" y1="2027" x2="78059" y2="3378"/>
                        <a14:foregroundMark x1="78059" y1="3378" x2="82278" y2="7432"/>
                        <a14:foregroundMark x1="39241" y1="32432" x2="29114" y2="47297"/>
                        <a14:foregroundMark x1="29114" y1="47297" x2="42616" y2="50000"/>
                        <a14:foregroundMark x1="42616" y1="50000" x2="37553" y2="35135"/>
                        <a14:foregroundMark x1="39430" y1="89311" x2="61603" y2="96622"/>
                        <a14:foregroundMark x1="61603" y1="96622" x2="77637" y2="95270"/>
                        <a14:foregroundMark x1="77637" y1="95270" x2="80169" y2="74324"/>
                        <a14:backgroundMark x1="31224" y1="5405" x2="31224" y2="9459"/>
                        <a14:backgroundMark x1="29536" y1="85135" x2="29958" y2="95946"/>
                        <a14:backgroundMark x1="31224" y1="79730" x2="30380" y2="891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812" r="16409"/>
          <a:stretch>
            <a:fillRect/>
          </a:stretch>
        </p:blipFill>
        <p:spPr>
          <a:xfrm>
            <a:off x="885232" y="2104250"/>
            <a:ext cx="3425900" cy="313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515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43222E-4CCA-E6D7-835F-7737C8E071A4}"/>
              </a:ext>
            </a:extLst>
          </p:cNvPr>
          <p:cNvSpPr/>
          <p:nvPr userDrawn="1"/>
        </p:nvSpPr>
        <p:spPr>
          <a:xfrm>
            <a:off x="5" y="5615"/>
            <a:ext cx="14630400" cy="91440"/>
          </a:xfrm>
          <a:prstGeom prst="roundRect">
            <a:avLst/>
          </a:prstGeom>
          <a:solidFill>
            <a:srgbClr val="117D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56168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3C8CF6-4B38-D106-4F5A-6977A278B2B5}"/>
              </a:ext>
            </a:extLst>
          </p:cNvPr>
          <p:cNvSpPr/>
          <p:nvPr userDrawn="1"/>
        </p:nvSpPr>
        <p:spPr>
          <a:xfrm>
            <a:off x="5" y="5615"/>
            <a:ext cx="14630400" cy="91440"/>
          </a:xfrm>
          <a:prstGeom prst="roundRect">
            <a:avLst/>
          </a:prstGeom>
          <a:solidFill>
            <a:srgbClr val="117D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741531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ED1876-6D05-D076-70FE-076BA3B4F46C}"/>
              </a:ext>
            </a:extLst>
          </p:cNvPr>
          <p:cNvSpPr/>
          <p:nvPr userDrawn="1"/>
        </p:nvSpPr>
        <p:spPr>
          <a:xfrm>
            <a:off x="5" y="5615"/>
            <a:ext cx="14630400" cy="91440"/>
          </a:xfrm>
          <a:prstGeom prst="roundRect">
            <a:avLst/>
          </a:prstGeom>
          <a:solidFill>
            <a:srgbClr val="117D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99788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409893C-BC1F-39CA-EBB2-56667CD148FC}"/>
              </a:ext>
            </a:extLst>
          </p:cNvPr>
          <p:cNvSpPr/>
          <p:nvPr userDrawn="1"/>
        </p:nvSpPr>
        <p:spPr>
          <a:xfrm>
            <a:off x="5" y="5615"/>
            <a:ext cx="14630400" cy="91440"/>
          </a:xfrm>
          <a:prstGeom prst="roundRect">
            <a:avLst/>
          </a:prstGeom>
          <a:solidFill>
            <a:srgbClr val="117D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962614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7622B5-2036-FF4E-ED17-7775E1B58AC7}"/>
              </a:ext>
            </a:extLst>
          </p:cNvPr>
          <p:cNvSpPr/>
          <p:nvPr userDrawn="1"/>
        </p:nvSpPr>
        <p:spPr>
          <a:xfrm>
            <a:off x="5" y="5615"/>
            <a:ext cx="14630400" cy="91440"/>
          </a:xfrm>
          <a:prstGeom prst="roundRect">
            <a:avLst/>
          </a:prstGeom>
          <a:solidFill>
            <a:srgbClr val="117D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957577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51147F-3016-6C36-09C2-EF332FEE18D9}"/>
              </a:ext>
            </a:extLst>
          </p:cNvPr>
          <p:cNvSpPr/>
          <p:nvPr userDrawn="1"/>
        </p:nvSpPr>
        <p:spPr>
          <a:xfrm>
            <a:off x="5" y="5615"/>
            <a:ext cx="14630400" cy="91440"/>
          </a:xfrm>
          <a:prstGeom prst="roundRect">
            <a:avLst/>
          </a:prstGeom>
          <a:solidFill>
            <a:srgbClr val="117D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16563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3663A68-D9AF-B80B-575F-075B6A3989D7}"/>
              </a:ext>
            </a:extLst>
          </p:cNvPr>
          <p:cNvSpPr/>
          <p:nvPr userDrawn="1"/>
        </p:nvSpPr>
        <p:spPr>
          <a:xfrm>
            <a:off x="5" y="5615"/>
            <a:ext cx="14630400" cy="91440"/>
          </a:xfrm>
          <a:prstGeom prst="roundRect">
            <a:avLst/>
          </a:prstGeom>
          <a:solidFill>
            <a:srgbClr val="117D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34095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E7016-64C3-5D52-08FE-6381CA9BA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32BA6F-5CAF-A104-9883-9B61919A8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2D78E-928C-7315-297E-49599F7E4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35DCB-E800-D66C-D6A8-D09792FA9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EB85C-B93B-46CD-B886-589457AB26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29BD37A-7666-2D08-9686-4D7854A6CC2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75386" y="2743200"/>
            <a:ext cx="2796540" cy="3392806"/>
          </a:xfrm>
        </p:spPr>
        <p:txBody>
          <a:bodyPr/>
          <a:lstStyle/>
          <a:p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69A925AF-EC81-4212-1C5C-C0EBD7F5F4A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18660" y="2742654"/>
            <a:ext cx="2796540" cy="3392806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BC8D5B5-5E13-4274-B25B-C5FFFDC68E6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945585" y="2742654"/>
            <a:ext cx="2796540" cy="3392806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5F80037-4ED0-36A1-C9F3-CDB8E10827A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32122" y="2742654"/>
            <a:ext cx="2796540" cy="3392806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8A60241-BBEC-C01B-A6B6-E7890984DB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75386" y="6309360"/>
            <a:ext cx="2796540" cy="647700"/>
          </a:xfrm>
        </p:spPr>
        <p:txBody>
          <a:bodyPr/>
          <a:lstStyle/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D57BE30-0C4C-A0F2-46FC-DADD45725D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18660" y="6309360"/>
            <a:ext cx="2796540" cy="647700"/>
          </a:xfrm>
        </p:spPr>
        <p:txBody>
          <a:bodyPr/>
          <a:lstStyle/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0005190-A699-5147-0E7E-0D3A129445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32122" y="6309360"/>
            <a:ext cx="2796540" cy="647700"/>
          </a:xfrm>
        </p:spPr>
        <p:txBody>
          <a:bodyPr/>
          <a:lstStyle/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C2B3574-9D8F-7486-DA8C-C12A99C9EE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45585" y="6309360"/>
            <a:ext cx="2796540" cy="647700"/>
          </a:xfrm>
        </p:spPr>
        <p:txBody>
          <a:bodyPr/>
          <a:lstStyle/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53656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7C2E9D-E49F-5E7D-11A6-ECC874654A98}"/>
              </a:ext>
            </a:extLst>
          </p:cNvPr>
          <p:cNvSpPr/>
          <p:nvPr userDrawn="1"/>
        </p:nvSpPr>
        <p:spPr>
          <a:xfrm>
            <a:off x="5" y="5615"/>
            <a:ext cx="14630400" cy="91440"/>
          </a:xfrm>
          <a:prstGeom prst="roundRect">
            <a:avLst/>
          </a:prstGeom>
          <a:solidFill>
            <a:srgbClr val="117D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7EE5E16-27F8-DBEB-B0B8-7E5F459A5842}"/>
              </a:ext>
            </a:extLst>
          </p:cNvPr>
          <p:cNvSpPr/>
          <p:nvPr userDrawn="1"/>
        </p:nvSpPr>
        <p:spPr>
          <a:xfrm>
            <a:off x="5" y="7532370"/>
            <a:ext cx="14630400" cy="697230"/>
          </a:xfrm>
          <a:prstGeom prst="roundRect">
            <a:avLst/>
          </a:prstGeom>
          <a:solidFill>
            <a:srgbClr val="117D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400"/>
              </a:lnSpc>
            </a:pPr>
            <a:r>
              <a:rPr lang="en-US" sz="25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Prepared By : Engr. Mir Masud  Uz Zaman</a:t>
            </a:r>
          </a:p>
          <a:p>
            <a:pPr algn="l">
              <a:lnSpc>
                <a:spcPts val="2400"/>
              </a:lnSpc>
            </a:pPr>
            <a:r>
              <a:rPr lang="en-US" sz="25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</a:t>
            </a:r>
            <a:r>
              <a:rPr lang="en-US" sz="1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Microsoft Certified Office Specialist Expert, NSDA certified Trainer &amp; Assessor.</a:t>
            </a:r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21AC35-59CB-18D9-A392-B6F9FDB1B534}"/>
              </a:ext>
            </a:extLst>
          </p:cNvPr>
          <p:cNvSpPr/>
          <p:nvPr userDrawn="1"/>
        </p:nvSpPr>
        <p:spPr>
          <a:xfrm>
            <a:off x="5" y="7532370"/>
            <a:ext cx="14630400" cy="697230"/>
          </a:xfrm>
          <a:prstGeom prst="roundRect">
            <a:avLst/>
          </a:prstGeom>
          <a:solidFill>
            <a:srgbClr val="117D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ts val="2400"/>
              </a:lnSpc>
            </a:pPr>
            <a:r>
              <a:rPr lang="en-US" sz="25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Prepared By : Engr. Mir Masud  Uz Zaman</a:t>
            </a:r>
          </a:p>
          <a:p>
            <a:pPr algn="l">
              <a:lnSpc>
                <a:spcPts val="2400"/>
              </a:lnSpc>
            </a:pPr>
            <a:r>
              <a:rPr lang="en-US" sz="25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</a:t>
            </a:r>
            <a:r>
              <a:rPr lang="en-US" sz="1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Microsoft Certified Office Specialist Expert, NSDA certified Trainer &amp; Assessor.</a:t>
            </a:r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7C2E9D-E49F-5E7D-11A6-ECC874654A98}"/>
              </a:ext>
            </a:extLst>
          </p:cNvPr>
          <p:cNvSpPr/>
          <p:nvPr userDrawn="1"/>
        </p:nvSpPr>
        <p:spPr>
          <a:xfrm>
            <a:off x="5" y="5615"/>
            <a:ext cx="14630400" cy="91440"/>
          </a:xfrm>
          <a:prstGeom prst="roundRect">
            <a:avLst/>
          </a:prstGeom>
          <a:solidFill>
            <a:srgbClr val="117D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4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93748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icpedia.org/post-it-note/c/certificate.html" TargetMode="External"/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9.svg"/><Relationship Id="rId12" Type="http://schemas.openxmlformats.org/officeDocument/2006/relationships/image" Target="../media/image34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28.svg"/><Relationship Id="rId11" Type="http://schemas.openxmlformats.org/officeDocument/2006/relationships/image" Target="../media/image33.svg"/><Relationship Id="rId5" Type="http://schemas.openxmlformats.org/officeDocument/2006/relationships/image" Target="../media/image27.sv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8.sv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46.jp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4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>
          <a:gsLst>
            <a:gs pos="0">
              <a:schemeClr val="accent6"/>
            </a:gs>
            <a:gs pos="48000">
              <a:srgbClr val="117D43"/>
            </a:gs>
            <a:gs pos="100000">
              <a:schemeClr val="tx1">
                <a:lumMod val="95000"/>
                <a:lumOff val="5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74449" y="3154324"/>
            <a:ext cx="554628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Introduction to </a:t>
            </a:r>
          </a:p>
          <a:p>
            <a:pPr marL="0" indent="0" algn="l">
              <a:buNone/>
            </a:pPr>
            <a:r>
              <a:rPr lang="en-US" sz="5400" b="1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Microsoft Excel</a:t>
            </a:r>
            <a:endParaRPr lang="en-US" sz="5400" b="1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D729713-4692-D861-5436-0E976DA94EF4}"/>
              </a:ext>
            </a:extLst>
          </p:cNvPr>
          <p:cNvGrpSpPr/>
          <p:nvPr/>
        </p:nvGrpSpPr>
        <p:grpSpPr>
          <a:xfrm>
            <a:off x="0" y="127000"/>
            <a:ext cx="5486400" cy="7188200"/>
            <a:chOff x="0" y="127000"/>
            <a:chExt cx="5486400" cy="71882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D685E9-EA66-DAFA-0F59-7E42249DC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27000"/>
              <a:ext cx="5486400" cy="7188200"/>
            </a:xfrm>
            <a:prstGeom prst="rect">
              <a:avLst/>
            </a:prstGeom>
          </p:spPr>
        </p:pic>
        <p:pic>
          <p:nvPicPr>
            <p:cNvPr id="5" name="Picture 4" descr="A green square with a white x&#10;&#10;AI-generated content may be incorrect.">
              <a:extLst>
                <a:ext uri="{FF2B5EF4-FFF2-40B4-BE49-F238E27FC236}">
                  <a16:creationId xmlns:a16="http://schemas.microsoft.com/office/drawing/2014/main" id="{8CE0B8BF-B3F4-FCCC-5A7F-F8DE62922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2703" b="95270" l="9705" r="89451">
                          <a14:foregroundMark x1="40506" y1="28378" x2="28270" y2="32432"/>
                          <a14:foregroundMark x1="28270" y1="32432" x2="29958" y2="63514"/>
                          <a14:foregroundMark x1="29958" y1="63514" x2="47257" y2="56757"/>
                          <a14:foregroundMark x1="47257" y1="56757" x2="45570" y2="36486"/>
                          <a14:foregroundMark x1="45570" y1="36486" x2="39662" y2="30405"/>
                          <a14:foregroundMark x1="38660" y1="5405" x2="48945" y2="2027"/>
                          <a14:foregroundMark x1="48945" y1="2027" x2="78059" y2="3378"/>
                          <a14:foregroundMark x1="78059" y1="3378" x2="82278" y2="7432"/>
                          <a14:foregroundMark x1="39241" y1="32432" x2="29114" y2="47297"/>
                          <a14:foregroundMark x1="29114" y1="47297" x2="42616" y2="50000"/>
                          <a14:foregroundMark x1="42616" y1="50000" x2="37553" y2="35135"/>
                          <a14:foregroundMark x1="39430" y1="89311" x2="61603" y2="96622"/>
                          <a14:foregroundMark x1="61603" y1="96622" x2="77637" y2="95270"/>
                          <a14:foregroundMark x1="77637" y1="95270" x2="80169" y2="74324"/>
                          <a14:backgroundMark x1="31224" y1="5405" x2="31224" y2="9459"/>
                          <a14:backgroundMark x1="29536" y1="85135" x2="29958" y2="95946"/>
                          <a14:backgroundMark x1="31224" y1="79730" x2="30380" y2="8918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812" r="16409"/>
            <a:stretch>
              <a:fillRect/>
            </a:stretch>
          </p:blipFill>
          <p:spPr>
            <a:xfrm>
              <a:off x="588049" y="2091387"/>
              <a:ext cx="3679151" cy="3366030"/>
            </a:xfrm>
            <a:prstGeom prst="rect">
              <a:avLst/>
            </a:prstGeom>
          </p:spPr>
        </p:pic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D0BE5D0E-412F-59CD-8F9E-1367DE29DF98}"/>
              </a:ext>
            </a:extLst>
          </p:cNvPr>
          <p:cNvSpPr/>
          <p:nvPr/>
        </p:nvSpPr>
        <p:spPr>
          <a:xfrm>
            <a:off x="12962929" y="7005161"/>
            <a:ext cx="143582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Batch-19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/>
            </a:gs>
            <a:gs pos="48000">
              <a:srgbClr val="117D43"/>
            </a:gs>
            <a:gs pos="100000">
              <a:schemeClr val="tx1">
                <a:lumMod val="95000"/>
                <a:lumOff val="5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69411-35B9-DB03-B59D-1F26C56C4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151" y="362995"/>
            <a:ext cx="12618720" cy="821822"/>
          </a:xfrm>
        </p:spPr>
        <p:txBody>
          <a:bodyPr>
            <a:no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About the Trainer</a:t>
            </a:r>
          </a:p>
        </p:txBody>
      </p:sp>
      <p:pic>
        <p:nvPicPr>
          <p:cNvPr id="5" name="Graphic 4" descr="Employee badge with solid fill">
            <a:extLst>
              <a:ext uri="{FF2B5EF4-FFF2-40B4-BE49-F238E27FC236}">
                <a16:creationId xmlns:a16="http://schemas.microsoft.com/office/drawing/2014/main" id="{D19DBF92-0E87-5883-0377-73D5A89175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437" y="109293"/>
            <a:ext cx="1329227" cy="1329227"/>
          </a:xfrm>
          <a:prstGeom prst="rect">
            <a:avLst/>
          </a:prstGeom>
          <a:effectLst>
            <a:outerShdw blurRad="76200" dist="215900" dir="8100000" algn="tr" rotWithShape="0">
              <a:prstClr val="black">
                <a:alpha val="50000"/>
              </a:prstClr>
            </a:outerShdw>
          </a:effec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1EC0AFA-192A-1625-4B02-256663E354DA}"/>
              </a:ext>
            </a:extLst>
          </p:cNvPr>
          <p:cNvSpPr/>
          <p:nvPr/>
        </p:nvSpPr>
        <p:spPr>
          <a:xfrm>
            <a:off x="506437" y="1584907"/>
            <a:ext cx="10638243" cy="5391631"/>
          </a:xfrm>
          <a:prstGeom prst="roundRect">
            <a:avLst>
              <a:gd name="adj" fmla="val 5975"/>
            </a:avLst>
          </a:prstGeom>
          <a:solidFill>
            <a:schemeClr val="tx1">
              <a:lumMod val="75000"/>
              <a:lumOff val="25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74320" rtlCol="0" anchor="t"/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8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Name		: Engr. Mir Masud Uz Zaman</a:t>
            </a:r>
          </a:p>
          <a:p>
            <a:r>
              <a:rPr lang="en-US" sz="288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Education 	: B.Sc. in EEE, KUET</a:t>
            </a:r>
          </a:p>
          <a:p>
            <a:r>
              <a:rPr lang="en-US" sz="288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Profession 	: Manager, Corporate - Sales                   		               		  Omera Petroleum Limited.</a:t>
            </a:r>
          </a:p>
          <a:p>
            <a:endParaRPr lang="en-US" sz="288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n-US" sz="105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n-US" sz="105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n-US" sz="288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Training Certifications : </a:t>
            </a:r>
          </a:p>
          <a:p>
            <a:pPr marL="411480" indent="-411480">
              <a:lnSpc>
                <a:spcPts val="3800"/>
              </a:lnSpc>
              <a:buFont typeface="Wingdings" panose="05000000000000000000" pitchFamily="2" charset="2"/>
              <a:buChar char="v"/>
            </a:pPr>
            <a:r>
              <a:rPr lang="en-US" sz="288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Certified Microsoft Office Specialist – Expert</a:t>
            </a:r>
          </a:p>
          <a:p>
            <a:pPr marL="411480" indent="-411480">
              <a:lnSpc>
                <a:spcPts val="3800"/>
              </a:lnSpc>
              <a:buFont typeface="Wingdings" panose="05000000000000000000" pitchFamily="2" charset="2"/>
              <a:buChar char="v"/>
            </a:pPr>
            <a:r>
              <a:rPr lang="en-US" sz="288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Computer Operation Level – 3 Competent. </a:t>
            </a:r>
          </a:p>
          <a:p>
            <a:pPr marL="411480" indent="-411480">
              <a:lnSpc>
                <a:spcPts val="3800"/>
              </a:lnSpc>
              <a:buFont typeface="Wingdings" panose="05000000000000000000" pitchFamily="2" charset="2"/>
              <a:buChar char="v"/>
            </a:pPr>
            <a:r>
              <a:rPr lang="en-US" sz="288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NSDA Certified Trainer and Assessor</a:t>
            </a:r>
          </a:p>
          <a:p>
            <a:pPr>
              <a:lnSpc>
                <a:spcPts val="3800"/>
              </a:lnSpc>
            </a:pPr>
            <a:r>
              <a:rPr lang="en-US" sz="288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CBT&amp;A Level – 4 Competent</a:t>
            </a:r>
          </a:p>
          <a:p>
            <a:endParaRPr lang="en-US" sz="288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marL="411480" indent="-411480">
              <a:buFont typeface="Wingdings" panose="05000000000000000000" pitchFamily="2" charset="2"/>
              <a:buChar char="v"/>
            </a:pPr>
            <a:endParaRPr lang="en-US" sz="288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6" name="Picture 5" descr="A person in a blue suit&#10;&#10;AI-generated content may be incorrect.">
            <a:extLst>
              <a:ext uri="{FF2B5EF4-FFF2-40B4-BE49-F238E27FC236}">
                <a16:creationId xmlns:a16="http://schemas.microsoft.com/office/drawing/2014/main" id="{F2E581C1-9E28-7763-E343-E98CFB493E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t="4412" r="8745" b="2753"/>
          <a:stretch/>
        </p:blipFill>
        <p:spPr>
          <a:xfrm>
            <a:off x="8070995" y="926624"/>
            <a:ext cx="3784996" cy="604991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88EE707-A746-FABB-23F5-FB89DFC76D79}"/>
              </a:ext>
            </a:extLst>
          </p:cNvPr>
          <p:cNvGrpSpPr/>
          <p:nvPr/>
        </p:nvGrpSpPr>
        <p:grpSpPr>
          <a:xfrm>
            <a:off x="3322320" y="3620826"/>
            <a:ext cx="4193346" cy="459851"/>
            <a:chOff x="3741420" y="3620826"/>
            <a:chExt cx="4193346" cy="45985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D54DE88-4EA1-4AA8-9A57-F2EFA3C990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333" b="33156"/>
            <a:stretch>
              <a:fillRect/>
            </a:stretch>
          </p:blipFill>
          <p:spPr>
            <a:xfrm>
              <a:off x="3741420" y="3620826"/>
              <a:ext cx="1371009" cy="45985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75ED3EA-DF72-4C85-8746-A7B21FAC5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9743" y="3620826"/>
              <a:ext cx="1237136" cy="45985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9A58927-8458-414B-9F54-9FAB0B1051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811"/>
            <a:stretch>
              <a:fillRect/>
            </a:stretch>
          </p:blipFill>
          <p:spPr>
            <a:xfrm>
              <a:off x="6604193" y="3620826"/>
              <a:ext cx="1330573" cy="459851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A678C37-1B98-8D2B-FD98-101D45940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2645" y="4937759"/>
            <a:ext cx="2603418" cy="292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08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/>
            </a:gs>
            <a:gs pos="48000">
              <a:srgbClr val="117D43"/>
            </a:gs>
            <a:gs pos="100000">
              <a:schemeClr val="tx1">
                <a:lumMod val="95000"/>
                <a:lumOff val="5000"/>
              </a:schemeClr>
            </a:gs>
          </a:gsLst>
          <a:lin ang="162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36948B-CC41-FE37-92AF-6881CF9FC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7C5049-75FD-A007-C543-0A7DB3F3C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75D73E6-1659-5D72-3DE4-BA84B95C829D}"/>
              </a:ext>
            </a:extLst>
          </p:cNvPr>
          <p:cNvSpPr txBox="1">
            <a:spLocks/>
          </p:cNvSpPr>
          <p:nvPr/>
        </p:nvSpPr>
        <p:spPr>
          <a:xfrm>
            <a:off x="1598884" y="257922"/>
            <a:ext cx="12618720" cy="821822"/>
          </a:xfrm>
        </p:spPr>
        <p:txBody>
          <a:bodyPr>
            <a:noAutofit/>
          </a:bodyPr>
          <a:lstStyle>
            <a:defPPr>
              <a:defRPr lang="en-US"/>
            </a:defPPr>
            <a:lvl1pPr marL="0" algn="l" defTabSz="1097280" rtl="0" eaLnBrk="1" latinLnBrk="0" hangingPunct="1">
              <a:spcBef>
                <a:spcPct val="0"/>
              </a:spcBef>
              <a:buNone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Certifications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259B39-956D-E147-C176-A264FA696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25371">
            <a:off x="7753021" y="712115"/>
            <a:ext cx="3585208" cy="50672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F77A5E-1FEE-38E2-EDB9-66DB5913A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58582">
            <a:off x="10153561" y="1677242"/>
            <a:ext cx="3859993" cy="55321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C3C869-7303-C69C-A421-3DCA2C6E8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814920">
            <a:off x="3585674" y="3875922"/>
            <a:ext cx="4361834" cy="30597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739BCE-FF69-9B25-EAA2-40C19026D2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786295">
            <a:off x="575512" y="1504886"/>
            <a:ext cx="3992675" cy="30833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D244B9-31C2-A206-5B48-314F3D25CA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rcRect l="28213" t="23673" r="17677"/>
          <a:stretch>
            <a:fillRect/>
          </a:stretch>
        </p:blipFill>
        <p:spPr>
          <a:xfrm>
            <a:off x="452739" y="253466"/>
            <a:ext cx="1062753" cy="99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9725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/>
            </a:gs>
            <a:gs pos="48000">
              <a:srgbClr val="117D43"/>
            </a:gs>
            <a:gs pos="100000">
              <a:schemeClr val="tx1">
                <a:lumMod val="95000"/>
                <a:lumOff val="5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-60" y="0"/>
            <a:ext cx="14630400" cy="27291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5782" y="2884527"/>
            <a:ext cx="8123873" cy="545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Prata" pitchFamily="34" charset="-122"/>
                <a:cs typeface="Prata" pitchFamily="34" charset="-120"/>
              </a:rPr>
              <a:t>Why Data Matters in Modern Business</a:t>
            </a:r>
            <a:endParaRPr lang="en-US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545782" y="3757851"/>
            <a:ext cx="13102114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 today's competitive landscape, data is more than just numbers; it's the lifeblood of informed decision-making and strategic advantage.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45782" y="4702135"/>
            <a:ext cx="4221837" cy="2480429"/>
          </a:xfrm>
          <a:prstGeom prst="roundRect">
            <a:avLst>
              <a:gd name="adj" fmla="val 1320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024" y="4920377"/>
            <a:ext cx="654963" cy="654963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4165" y="5100399"/>
            <a:ext cx="294680" cy="2946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024" y="5793581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Competitive Edge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764024" y="6265664"/>
            <a:ext cx="3785354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 market gaps and outperform rivals.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4985861" y="4702135"/>
            <a:ext cx="4221837" cy="2480429"/>
          </a:xfrm>
          <a:prstGeom prst="roundRect">
            <a:avLst>
              <a:gd name="adj" fmla="val 1320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4102" y="4920377"/>
            <a:ext cx="654963" cy="654963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84244" y="5100399"/>
            <a:ext cx="294680" cy="2946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204102" y="5793581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Informed Decisions</a:t>
            </a:r>
            <a:endParaRPr lang="en-US" sz="2100" dirty="0"/>
          </a:p>
        </p:txBody>
      </p:sp>
      <p:sp>
        <p:nvSpPr>
          <p:cNvPr id="14" name="Text 7"/>
          <p:cNvSpPr/>
          <p:nvPr/>
        </p:nvSpPr>
        <p:spPr>
          <a:xfrm>
            <a:off x="5204102" y="6265664"/>
            <a:ext cx="3785354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Move beyond guesswork with evidence-based strategies.</a:t>
            </a:r>
            <a:endParaRPr lang="en-US" sz="1700" dirty="0"/>
          </a:p>
        </p:txBody>
      </p:sp>
      <p:sp>
        <p:nvSpPr>
          <p:cNvPr id="15" name="Shape 8"/>
          <p:cNvSpPr/>
          <p:nvPr/>
        </p:nvSpPr>
        <p:spPr>
          <a:xfrm>
            <a:off x="9425940" y="4702135"/>
            <a:ext cx="4221837" cy="2480429"/>
          </a:xfrm>
          <a:prstGeom prst="roundRect">
            <a:avLst>
              <a:gd name="adj" fmla="val 1320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4181" y="4920377"/>
            <a:ext cx="654963" cy="654963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24323" y="5100399"/>
            <a:ext cx="294680" cy="29468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644181" y="5793581"/>
            <a:ext cx="2900720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Growth Opportunities</a:t>
            </a:r>
            <a:endParaRPr lang="en-US" sz="2100" dirty="0"/>
          </a:p>
        </p:txBody>
      </p:sp>
      <p:sp>
        <p:nvSpPr>
          <p:cNvPr id="19" name="Text 10"/>
          <p:cNvSpPr/>
          <p:nvPr/>
        </p:nvSpPr>
        <p:spPr>
          <a:xfrm>
            <a:off x="9644181" y="6265664"/>
            <a:ext cx="3785354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Uncover new revenue streams and customer segments.</a:t>
            </a:r>
            <a:endParaRPr lang="en-US" sz="17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/>
            </a:gs>
            <a:gs pos="48000">
              <a:srgbClr val="117D43"/>
            </a:gs>
            <a:gs pos="100000">
              <a:schemeClr val="tx1">
                <a:lumMod val="95000"/>
                <a:lumOff val="5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0" y="0"/>
            <a:ext cx="5486400" cy="7372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46564" y="536813"/>
            <a:ext cx="7715012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000"/>
              </a:lnSpc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Prata" pitchFamily="34" charset="-122"/>
              </a:rPr>
              <a:t>Components of a Data Analyst</a:t>
            </a:r>
          </a:p>
        </p:txBody>
      </p:sp>
      <p:sp>
        <p:nvSpPr>
          <p:cNvPr id="4" name="Text 1"/>
          <p:cNvSpPr/>
          <p:nvPr/>
        </p:nvSpPr>
        <p:spPr>
          <a:xfrm>
            <a:off x="5846564" y="1377791"/>
            <a:ext cx="7715012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analytics transforms raw data into actionable intelligence, guiding businesses through complex challenges and towards strategic success.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6564" y="2260759"/>
            <a:ext cx="1020723" cy="12247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71360" y="246483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Collection</a:t>
            </a:r>
            <a:endParaRPr lang="en-US" sz="2400" b="1" dirty="0"/>
          </a:p>
        </p:txBody>
      </p:sp>
      <p:sp>
        <p:nvSpPr>
          <p:cNvPr id="7" name="Text 3"/>
          <p:cNvSpPr/>
          <p:nvPr/>
        </p:nvSpPr>
        <p:spPr>
          <a:xfrm>
            <a:off x="7071360" y="2906077"/>
            <a:ext cx="6490216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Gathering relevant information from various sources.</a:t>
            </a:r>
            <a:endParaRPr lang="en-US" sz="1600" b="1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6564" y="3485555"/>
            <a:ext cx="1020723" cy="12247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71360" y="368962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Processing</a:t>
            </a:r>
            <a:endParaRPr lang="en-US" sz="2400" b="1" dirty="0"/>
          </a:p>
        </p:txBody>
      </p:sp>
      <p:sp>
        <p:nvSpPr>
          <p:cNvPr id="10" name="Text 5"/>
          <p:cNvSpPr/>
          <p:nvPr/>
        </p:nvSpPr>
        <p:spPr>
          <a:xfrm>
            <a:off x="7071360" y="4130873"/>
            <a:ext cx="6490216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Cleaning, transforming, and organizing data.</a:t>
            </a:r>
            <a:endParaRPr lang="en-US" sz="1600" b="1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6564" y="4710351"/>
            <a:ext cx="1020723" cy="12247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71360" y="491442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Analysis &amp; Modeling</a:t>
            </a:r>
            <a:endParaRPr lang="en-US" sz="2400" b="1" dirty="0"/>
          </a:p>
        </p:txBody>
      </p:sp>
      <p:sp>
        <p:nvSpPr>
          <p:cNvPr id="13" name="Text 7"/>
          <p:cNvSpPr/>
          <p:nvPr/>
        </p:nvSpPr>
        <p:spPr>
          <a:xfrm>
            <a:off x="7071360" y="5355669"/>
            <a:ext cx="6490216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Applying techniques to find patterns and insights.</a:t>
            </a:r>
            <a:endParaRPr lang="en-US" sz="1600" b="1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6564" y="5935146"/>
            <a:ext cx="1020723" cy="12247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071360" y="613922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Actionable Insights</a:t>
            </a:r>
            <a:endParaRPr lang="en-US" sz="2400" b="1" dirty="0"/>
          </a:p>
        </p:txBody>
      </p:sp>
      <p:sp>
        <p:nvSpPr>
          <p:cNvPr id="16" name="Text 9"/>
          <p:cNvSpPr/>
          <p:nvPr/>
        </p:nvSpPr>
        <p:spPr>
          <a:xfrm>
            <a:off x="7071360" y="6580465"/>
            <a:ext cx="6490216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Translating findings into strategic business moves.</a:t>
            </a:r>
            <a:endParaRPr lang="en-US" sz="1600" b="1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/>
            </a:gs>
            <a:gs pos="48000">
              <a:srgbClr val="117D43"/>
            </a:gs>
            <a:gs pos="100000">
              <a:schemeClr val="tx1">
                <a:lumMod val="95000"/>
                <a:lumOff val="5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9"/>
          <p:cNvSpPr/>
          <p:nvPr/>
        </p:nvSpPr>
        <p:spPr>
          <a:xfrm>
            <a:off x="7212449" y="2483406"/>
            <a:ext cx="4896803" cy="459224"/>
          </a:xfrm>
          <a:prstGeom prst="roundRect">
            <a:avLst>
              <a:gd name="adj" fmla="val 5441"/>
            </a:avLst>
          </a:prstGeom>
          <a:solidFill>
            <a:schemeClr val="tx1">
              <a:lumMod val="65000"/>
              <a:lumOff val="35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212449" y="1481852"/>
            <a:ext cx="1632228" cy="459224"/>
          </a:xfrm>
          <a:prstGeom prst="roundRect">
            <a:avLst>
              <a:gd name="adj" fmla="val 5441"/>
            </a:avLst>
          </a:prstGeom>
          <a:solidFill>
            <a:schemeClr val="tx1">
              <a:lumMod val="65000"/>
              <a:lumOff val="3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212449" y="1982629"/>
            <a:ext cx="3264575" cy="459224"/>
          </a:xfrm>
          <a:prstGeom prst="roundRect">
            <a:avLst>
              <a:gd name="adj" fmla="val 5441"/>
            </a:avLst>
          </a:prstGeom>
          <a:solidFill>
            <a:schemeClr val="tx1">
              <a:lumMod val="65000"/>
              <a:lumOff val="35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261818" y="309504"/>
            <a:ext cx="7756208" cy="416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Prata" pitchFamily="34" charset="-122"/>
                <a:cs typeface="Prata" pitchFamily="34" charset="-120"/>
              </a:rPr>
              <a:t>Understanding Data Analytics: Types &amp; Levels</a:t>
            </a:r>
            <a:endParaRPr lang="en-US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269438" y="982147"/>
            <a:ext cx="2498646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chemeClr val="bg1"/>
                </a:solidFill>
                <a:latin typeface="+mj-lt"/>
                <a:ea typeface="Prata" pitchFamily="34" charset="-122"/>
                <a:cs typeface="Prata" pitchFamily="34" charset="-120"/>
              </a:rPr>
              <a:t>Types of Data</a:t>
            </a:r>
            <a:endParaRPr lang="en-US" sz="195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269438" y="1461016"/>
            <a:ext cx="6529149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Quantitative:</a:t>
            </a: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Numerical data, easily measured and compared (e.g., sales figures, stock prices).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212449" y="2984183"/>
            <a:ext cx="6529149" cy="459224"/>
          </a:xfrm>
          <a:prstGeom prst="roundRect">
            <a:avLst>
              <a:gd name="adj" fmla="val 5441"/>
            </a:avLst>
          </a:prstGeom>
          <a:solidFill>
            <a:schemeClr val="tx1">
              <a:lumMod val="65000"/>
              <a:lumOff val="3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69438" y="2052161"/>
            <a:ext cx="6529149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Qualitative:</a:t>
            </a: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Descriptive data, offering insights into motivations and opinions (e.g., customer feedback, survey responses).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9438" y="2643307"/>
            <a:ext cx="6529149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Structured:</a:t>
            </a: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Organized in a defined format (e.g., databases, spreadsheets).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9438" y="2967990"/>
            <a:ext cx="6529149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Unstructured:</a:t>
            </a: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Raw, unorganized data (e.g., emails, social media posts, videos).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12449" y="982147"/>
            <a:ext cx="2498646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chemeClr val="bg1"/>
                </a:solidFill>
                <a:latin typeface="+mj-lt"/>
                <a:ea typeface="Prata" pitchFamily="34" charset="-122"/>
                <a:cs typeface="Prata" pitchFamily="34" charset="-120"/>
              </a:rPr>
              <a:t>Levels of Analytics</a:t>
            </a:r>
            <a:endParaRPr lang="en-US" sz="195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11465" y="1594366"/>
            <a:ext cx="234196" cy="234196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7638" y="2095143"/>
            <a:ext cx="234196" cy="234196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3692" y="2595920"/>
            <a:ext cx="234196" cy="234196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59866" y="3096697"/>
            <a:ext cx="234196" cy="23419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212449" y="3609975"/>
            <a:ext cx="333137" cy="333137"/>
          </a:xfrm>
          <a:prstGeom prst="roundRect">
            <a:avLst>
              <a:gd name="adj" fmla="val 7501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74956" y="3672483"/>
            <a:ext cx="208121" cy="2081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712154" y="3646408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Prescriptive</a:t>
            </a:r>
            <a:endParaRPr lang="en-US" sz="2400" b="1" dirty="0"/>
          </a:p>
        </p:txBody>
      </p:sp>
      <p:sp>
        <p:nvSpPr>
          <p:cNvPr id="20" name="Text 13"/>
          <p:cNvSpPr/>
          <p:nvPr/>
        </p:nvSpPr>
        <p:spPr>
          <a:xfrm>
            <a:off x="7712154" y="3958947"/>
            <a:ext cx="6029444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should we do?</a:t>
            </a:r>
            <a:endParaRPr lang="en-US" sz="1600" b="1" dirty="0"/>
          </a:p>
        </p:txBody>
      </p:sp>
      <p:sp>
        <p:nvSpPr>
          <p:cNvPr id="21" name="Shape 14"/>
          <p:cNvSpPr/>
          <p:nvPr/>
        </p:nvSpPr>
        <p:spPr>
          <a:xfrm>
            <a:off x="7212449" y="4589502"/>
            <a:ext cx="333137" cy="333137"/>
          </a:xfrm>
          <a:prstGeom prst="roundRect">
            <a:avLst>
              <a:gd name="adj" fmla="val 7501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74956" y="4652010"/>
            <a:ext cx="208121" cy="208121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712154" y="4625935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Predictive</a:t>
            </a:r>
            <a:endParaRPr lang="en-US" sz="2400" b="1" dirty="0"/>
          </a:p>
        </p:txBody>
      </p:sp>
      <p:sp>
        <p:nvSpPr>
          <p:cNvPr id="24" name="Text 16"/>
          <p:cNvSpPr/>
          <p:nvPr/>
        </p:nvSpPr>
        <p:spPr>
          <a:xfrm>
            <a:off x="7712154" y="4881324"/>
            <a:ext cx="6029444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will happen?</a:t>
            </a:r>
            <a:endParaRPr lang="en-US" sz="1600" b="1" dirty="0"/>
          </a:p>
        </p:txBody>
      </p:sp>
      <p:sp>
        <p:nvSpPr>
          <p:cNvPr id="25" name="Shape 17"/>
          <p:cNvSpPr/>
          <p:nvPr/>
        </p:nvSpPr>
        <p:spPr>
          <a:xfrm>
            <a:off x="7212449" y="5569029"/>
            <a:ext cx="333137" cy="333137"/>
          </a:xfrm>
          <a:prstGeom prst="roundRect">
            <a:avLst>
              <a:gd name="adj" fmla="val 7501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74956" y="5631537"/>
            <a:ext cx="208121" cy="208121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712154" y="5605463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Diagnostic</a:t>
            </a:r>
            <a:endParaRPr lang="en-US" sz="2400" b="1" dirty="0"/>
          </a:p>
        </p:txBody>
      </p:sp>
      <p:sp>
        <p:nvSpPr>
          <p:cNvPr id="28" name="Text 19"/>
          <p:cNvSpPr/>
          <p:nvPr/>
        </p:nvSpPr>
        <p:spPr>
          <a:xfrm>
            <a:off x="7712154" y="5872282"/>
            <a:ext cx="6029444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did it happen?</a:t>
            </a:r>
            <a:endParaRPr lang="en-US" sz="1600" b="1" dirty="0"/>
          </a:p>
        </p:txBody>
      </p:sp>
      <p:sp>
        <p:nvSpPr>
          <p:cNvPr id="29" name="Shape 20"/>
          <p:cNvSpPr/>
          <p:nvPr/>
        </p:nvSpPr>
        <p:spPr>
          <a:xfrm>
            <a:off x="7212449" y="6548557"/>
            <a:ext cx="333137" cy="333137"/>
          </a:xfrm>
          <a:prstGeom prst="roundRect">
            <a:avLst>
              <a:gd name="adj" fmla="val 7501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74956" y="6611064"/>
            <a:ext cx="208121" cy="208121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712154" y="6584990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Descriptive</a:t>
            </a:r>
            <a:endParaRPr lang="en-US" sz="2400" b="1" dirty="0"/>
          </a:p>
        </p:txBody>
      </p:sp>
      <p:sp>
        <p:nvSpPr>
          <p:cNvPr id="32" name="Text 22"/>
          <p:cNvSpPr/>
          <p:nvPr/>
        </p:nvSpPr>
        <p:spPr>
          <a:xfrm>
            <a:off x="7712154" y="6851809"/>
            <a:ext cx="6029444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happened?</a:t>
            </a:r>
            <a:endParaRPr lang="en-US" sz="1600" b="1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26C38C1-02A1-12FC-2F82-71D81577B27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818" y="3443407"/>
            <a:ext cx="6282690" cy="3804046"/>
          </a:xfrm>
          <a:prstGeom prst="rect">
            <a:avLst/>
          </a:prstGeom>
          <a:effectLst>
            <a:outerShdw blurRad="1270000" dist="50800" dir="5400000" algn="ctr" rotWithShape="0">
              <a:srgbClr val="000000">
                <a:alpha val="43137"/>
              </a:srgbClr>
            </a:outerShdw>
          </a:effec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/>
            </a:gs>
            <a:gs pos="48000">
              <a:srgbClr val="117D43"/>
            </a:gs>
            <a:gs pos="100000">
              <a:schemeClr val="tx1">
                <a:lumMod val="95000"/>
                <a:lumOff val="5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8673" y="646986"/>
            <a:ext cx="11017210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Tools of the Trade: What Every Data Analyst Needs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808673" y="1386324"/>
            <a:ext cx="13013055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From wrangling raw data to crafting compelling visuals, these are the essential tools that power modern data analysis. Mastering this toolkit will set you apart in today's data-driven job market.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73644" y="2137013"/>
            <a:ext cx="4216122" cy="2639378"/>
          </a:xfrm>
          <a:prstGeom prst="roundRect">
            <a:avLst>
              <a:gd name="adj" fmla="val 12058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8673" y="2372043"/>
            <a:ext cx="636508" cy="636508"/>
          </a:xfrm>
          <a:prstGeom prst="roundRect">
            <a:avLst>
              <a:gd name="adj" fmla="val 14364447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3695" y="2547065"/>
            <a:ext cx="286345" cy="2863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8673" y="3190835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Programming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08673" y="3594815"/>
            <a:ext cx="3746063" cy="946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&amp; </a:t>
            </a:r>
            <a:r>
              <a:rPr lang="en-US" sz="16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the backbone of data analysis, from cleaning data to building predictive models.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4972050" y="2137013"/>
            <a:ext cx="4216122" cy="2639378"/>
          </a:xfrm>
          <a:prstGeom prst="roundRect">
            <a:avLst>
              <a:gd name="adj" fmla="val 12058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207080" y="2372043"/>
            <a:ext cx="636508" cy="636508"/>
          </a:xfrm>
          <a:prstGeom prst="roundRect">
            <a:avLst>
              <a:gd name="adj" fmla="val 14364447"/>
            </a:avLst>
          </a:prstGeom>
          <a:solidFill>
            <a:srgbClr val="29DD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82102" y="2547065"/>
            <a:ext cx="286345" cy="2863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07080" y="3190835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Databases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5207080" y="3594815"/>
            <a:ext cx="3746063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SQL, MySQL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&amp; </a:t>
            </a:r>
            <a:r>
              <a:rPr lang="en-US" sz="16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PostgreSQL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query and manage structured data at any scale.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9370457" y="2137013"/>
            <a:ext cx="4216241" cy="2639378"/>
          </a:xfrm>
          <a:prstGeom prst="roundRect">
            <a:avLst>
              <a:gd name="adj" fmla="val 12058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605487" y="2372043"/>
            <a:ext cx="636508" cy="636508"/>
          </a:xfrm>
          <a:prstGeom prst="roundRect">
            <a:avLst>
              <a:gd name="adj" fmla="val 14364447"/>
            </a:avLst>
          </a:prstGeom>
          <a:solidFill>
            <a:srgbClr val="37A7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0509" y="2547065"/>
            <a:ext cx="286345" cy="28634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5487" y="3190835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Visualisation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9605487" y="3594815"/>
            <a:ext cx="3746183" cy="946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Tableau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&amp; </a:t>
            </a:r>
            <a:r>
              <a:rPr lang="en-US" sz="16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Power BI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turn numbers into clear, interactive stories for any audience.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573644" y="4929902"/>
            <a:ext cx="6415326" cy="2323862"/>
          </a:xfrm>
          <a:prstGeom prst="roundRect">
            <a:avLst>
              <a:gd name="adj" fmla="val 13695"/>
            </a:avLst>
          </a:prstGeom>
          <a:solidFill>
            <a:srgbClr val="0A081B"/>
          </a:solidFill>
          <a:ln w="2286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08673" y="5199659"/>
            <a:ext cx="636508" cy="636508"/>
          </a:xfrm>
          <a:prstGeom prst="roundRect">
            <a:avLst>
              <a:gd name="adj" fmla="val 14364447"/>
            </a:avLst>
          </a:prstGeom>
          <a:solidFill>
            <a:srgbClr val="09123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3695" y="5339954"/>
            <a:ext cx="286345" cy="28634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8673" y="5983725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Spreadsheets</a:t>
            </a:r>
            <a:endParaRPr lang="en-US" sz="1850" dirty="0"/>
          </a:p>
        </p:txBody>
      </p:sp>
      <p:sp>
        <p:nvSpPr>
          <p:cNvPr id="23" name="Text 17"/>
          <p:cNvSpPr/>
          <p:nvPr/>
        </p:nvSpPr>
        <p:spPr>
          <a:xfrm>
            <a:off x="808673" y="6387704"/>
            <a:ext cx="5945267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Excel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&amp; </a:t>
            </a:r>
            <a:r>
              <a:rPr lang="en-US" sz="16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Google Sheets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still indispensable for quick analysis, pivots, and collaboration.</a:t>
            </a:r>
            <a:endParaRPr lang="en-US" sz="1650" dirty="0"/>
          </a:p>
        </p:txBody>
      </p:sp>
      <p:sp>
        <p:nvSpPr>
          <p:cNvPr id="24" name="Shape 18"/>
          <p:cNvSpPr/>
          <p:nvPr/>
        </p:nvSpPr>
        <p:spPr>
          <a:xfrm>
            <a:off x="7171254" y="4929902"/>
            <a:ext cx="6415445" cy="2323862"/>
          </a:xfrm>
          <a:prstGeom prst="roundRect">
            <a:avLst>
              <a:gd name="adj" fmla="val 13695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421860" y="5093663"/>
            <a:ext cx="636508" cy="655033"/>
          </a:xfrm>
          <a:prstGeom prst="roundRect">
            <a:avLst>
              <a:gd name="adj" fmla="val 14364447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1305" y="5278936"/>
            <a:ext cx="294679" cy="29467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06283" y="5983725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Power Tools</a:t>
            </a:r>
            <a:endParaRPr lang="en-US" sz="1850" dirty="0"/>
          </a:p>
        </p:txBody>
      </p:sp>
      <p:sp>
        <p:nvSpPr>
          <p:cNvPr id="28" name="Text 21"/>
          <p:cNvSpPr/>
          <p:nvPr/>
        </p:nvSpPr>
        <p:spPr>
          <a:xfrm>
            <a:off x="7406283" y="6387704"/>
            <a:ext cx="5945386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Jupyter Notebook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exploratory analysis; </a:t>
            </a:r>
            <a:r>
              <a:rPr lang="en-US" sz="1650" b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Apache Spark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large-scale, distributed data processing.</a:t>
            </a:r>
            <a:endParaRPr lang="en-US" sz="165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/>
            </a:gs>
            <a:gs pos="48000">
              <a:srgbClr val="117D43"/>
            </a:gs>
            <a:gs pos="100000">
              <a:schemeClr val="tx1">
                <a:lumMod val="95000"/>
                <a:lumOff val="5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4870" y="461874"/>
            <a:ext cx="4599384" cy="525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Scope of a Data Analyst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18523" y="1354336"/>
            <a:ext cx="11593354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analytics is one of the fastest-growing career fields globally — spanning industries and evolving rapidly into specialised roles.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523" y="1784152"/>
            <a:ext cx="2171343" cy="21713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18523" y="3941782"/>
            <a:ext cx="2100263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Business Analyst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518523" y="4291112"/>
            <a:ext cx="3743801" cy="53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Bridges the gap between data and business decisions, translating insights into strategy.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3180" y="1784152"/>
            <a:ext cx="2171462" cy="21714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43180" y="3941901"/>
            <a:ext cx="2100263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Scientist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5443180" y="4273987"/>
            <a:ext cx="3743920" cy="801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 advanced path focused on predictive modelling, machine learning, and statistical research.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7957" y="1784152"/>
            <a:ext cx="2171343" cy="21713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67957" y="3941782"/>
            <a:ext cx="2100263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Engineer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9367957" y="4291112"/>
            <a:ext cx="3743801" cy="53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Designs and maintains the infrastructure that makes data accessible and reliable.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1518404" y="5192832"/>
            <a:ext cx="5724287" cy="1047631"/>
          </a:xfrm>
          <a:prstGeom prst="roundRect">
            <a:avLst>
              <a:gd name="adj" fmla="val 27064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1730216" y="5404644"/>
            <a:ext cx="2100263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FC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🖥</a:t>
            </a: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IT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730216" y="5761593"/>
            <a:ext cx="5300663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Software, cybersecurity, cloud platforms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7387352" y="5192832"/>
            <a:ext cx="5724406" cy="1047631"/>
          </a:xfrm>
          <a:prstGeom prst="roundRect">
            <a:avLst>
              <a:gd name="adj" fmla="val 27064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7599164" y="5404644"/>
            <a:ext cx="2100263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🏦</a:t>
            </a: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Banking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7599164" y="5761593"/>
            <a:ext cx="5300782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Risk analysis, fraud detection, lending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18404" y="6385124"/>
            <a:ext cx="5724287" cy="1047631"/>
          </a:xfrm>
          <a:prstGeom prst="roundRect">
            <a:avLst>
              <a:gd name="adj" fmla="val 27064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1730216" y="6596936"/>
            <a:ext cx="2100263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🏥</a:t>
            </a: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Healthcare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1730216" y="6953885"/>
            <a:ext cx="5300663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Patient outcomes, clinical research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7387352" y="6385124"/>
            <a:ext cx="5724406" cy="1047631"/>
          </a:xfrm>
          <a:prstGeom prst="roundRect">
            <a:avLst>
              <a:gd name="adj" fmla="val 27064"/>
            </a:avLst>
          </a:prstGeom>
          <a:solidFill>
            <a:srgbClr val="0A081B"/>
          </a:solidFill>
          <a:ln w="2286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7599164" y="6596936"/>
            <a:ext cx="2100263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🛒</a:t>
            </a: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Retail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7599164" y="6953885"/>
            <a:ext cx="5300782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Consumer behaviour, supply chain</a:t>
            </a:r>
            <a:endParaRPr lang="en-US" sz="145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/>
            </a:gs>
            <a:gs pos="48000">
              <a:srgbClr val="117D43"/>
            </a:gs>
            <a:gs pos="100000">
              <a:schemeClr val="tx1">
                <a:lumMod val="95000"/>
                <a:lumOff val="5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28246"/>
            <a:ext cx="5486400" cy="7215554"/>
          </a:xfrm>
          <a:prstGeom prst="rect">
            <a:avLst/>
          </a:prstGeom>
          <a:solidFill>
            <a:srgbClr val="0A081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0441" y="585789"/>
            <a:ext cx="5293519" cy="69580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5084" y="507445"/>
            <a:ext cx="5626179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Future of Data Analytics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675084" y="1435894"/>
            <a:ext cx="7793831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field is evolving at an extraordinary pace — and those who upskill today will lead tomorrow.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92015" y="1880116"/>
            <a:ext cx="45719" cy="6577709"/>
          </a:xfrm>
          <a:prstGeom prst="roundRect">
            <a:avLst>
              <a:gd name="adj" fmla="val 1265624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7" name="Shape 4"/>
          <p:cNvSpPr/>
          <p:nvPr/>
        </p:nvSpPr>
        <p:spPr>
          <a:xfrm>
            <a:off x="1086147" y="2085617"/>
            <a:ext cx="597711" cy="45719"/>
          </a:xfrm>
          <a:prstGeom prst="roundRect">
            <a:avLst>
              <a:gd name="adj" fmla="val 1265624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8" name="Shape 5"/>
          <p:cNvSpPr/>
          <p:nvPr/>
        </p:nvSpPr>
        <p:spPr>
          <a:xfrm>
            <a:off x="675025" y="1880116"/>
            <a:ext cx="448283" cy="630792"/>
          </a:xfrm>
          <a:prstGeom prst="roundRect">
            <a:avLst>
              <a:gd name="adj" fmla="val 66667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746291" y="2102066"/>
            <a:ext cx="265649" cy="46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856423" y="1946315"/>
            <a:ext cx="2316312" cy="389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AI &amp; Machine Learning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856423" y="2304574"/>
            <a:ext cx="6830377" cy="399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Predictive algorithms are becoming standard tools in every analyst's toolkit.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86147" y="3086218"/>
            <a:ext cx="597711" cy="45719"/>
          </a:xfrm>
          <a:prstGeom prst="roundRect">
            <a:avLst>
              <a:gd name="adj" fmla="val 1265624"/>
            </a:avLst>
          </a:prstGeom>
          <a:solidFill>
            <a:srgbClr val="29DDDA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3" name="Shape 10"/>
          <p:cNvSpPr/>
          <p:nvPr/>
        </p:nvSpPr>
        <p:spPr>
          <a:xfrm>
            <a:off x="675025" y="2880717"/>
            <a:ext cx="448283" cy="630792"/>
          </a:xfrm>
          <a:prstGeom prst="roundRect">
            <a:avLst>
              <a:gd name="adj" fmla="val 66667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4" name="Text 11"/>
          <p:cNvSpPr/>
          <p:nvPr/>
        </p:nvSpPr>
        <p:spPr>
          <a:xfrm>
            <a:off x="746291" y="3071548"/>
            <a:ext cx="265649" cy="46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856423" y="2946916"/>
            <a:ext cx="2213742" cy="389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Big Data Expansion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856423" y="3305175"/>
            <a:ext cx="6830377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volumes are growing exponentially, requiring new skills in distributed computing and cloud storage.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86147" y="4361616"/>
            <a:ext cx="597711" cy="45719"/>
          </a:xfrm>
          <a:prstGeom prst="roundRect">
            <a:avLst>
              <a:gd name="adj" fmla="val 1265624"/>
            </a:avLst>
          </a:prstGeom>
          <a:solidFill>
            <a:srgbClr val="37A7E7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8" name="Shape 15"/>
          <p:cNvSpPr/>
          <p:nvPr/>
        </p:nvSpPr>
        <p:spPr>
          <a:xfrm>
            <a:off x="675025" y="4156115"/>
            <a:ext cx="448283" cy="630792"/>
          </a:xfrm>
          <a:prstGeom prst="roundRect">
            <a:avLst>
              <a:gd name="adj" fmla="val 66667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9" name="Text 16"/>
          <p:cNvSpPr/>
          <p:nvPr/>
        </p:nvSpPr>
        <p:spPr>
          <a:xfrm>
            <a:off x="746291" y="4384475"/>
            <a:ext cx="265649" cy="46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856423" y="4222313"/>
            <a:ext cx="2255680" cy="389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Analytics Automation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856423" y="4580573"/>
            <a:ext cx="6830377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Routine reporting and data preparation tasks are increasingly handled by automated pipelines.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86147" y="5637013"/>
            <a:ext cx="597711" cy="45719"/>
          </a:xfrm>
          <a:prstGeom prst="roundRect">
            <a:avLst>
              <a:gd name="adj" fmla="val 1265624"/>
            </a:avLst>
          </a:prstGeom>
          <a:solidFill>
            <a:srgbClr val="09123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3" name="Shape 20"/>
          <p:cNvSpPr/>
          <p:nvPr/>
        </p:nvSpPr>
        <p:spPr>
          <a:xfrm>
            <a:off x="689440" y="5405940"/>
            <a:ext cx="448283" cy="630792"/>
          </a:xfrm>
          <a:prstGeom prst="roundRect">
            <a:avLst>
              <a:gd name="adj" fmla="val 66667"/>
            </a:avLst>
          </a:prstGeom>
          <a:solidFill>
            <a:srgbClr val="0A081B"/>
          </a:solidFill>
          <a:ln w="2286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4" name="Text 21"/>
          <p:cNvSpPr/>
          <p:nvPr/>
        </p:nvSpPr>
        <p:spPr>
          <a:xfrm>
            <a:off x="746291" y="5622343"/>
            <a:ext cx="265649" cy="46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1856423" y="5497711"/>
            <a:ext cx="2213742" cy="389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Surging Demand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1856423" y="5855970"/>
            <a:ext cx="6830377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roles consistently rank among the most in-demand and highest-paid professions worldwide.</a:t>
            </a:r>
            <a:endParaRPr lang="en-US" sz="16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/>
            </a:gs>
            <a:gs pos="48000">
              <a:srgbClr val="117D43"/>
            </a:gs>
            <a:gs pos="100000">
              <a:schemeClr val="tx1">
                <a:lumMod val="95000"/>
                <a:lumOff val="5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00175" y="571262"/>
            <a:ext cx="5741313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Challenges in Data Analytics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400175" y="1408390"/>
            <a:ext cx="11830050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rewarding career comes with real obstacles. Understanding these challenges helps you prepare and grow stronger.</a:t>
            </a:r>
            <a:endParaRPr lang="en-US" sz="15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ADF62F7-2ED5-8753-956D-C5DA1EBAE528}"/>
              </a:ext>
            </a:extLst>
          </p:cNvPr>
          <p:cNvGrpSpPr/>
          <p:nvPr/>
        </p:nvGrpSpPr>
        <p:grpSpPr>
          <a:xfrm>
            <a:off x="2097025" y="1853185"/>
            <a:ext cx="9764068" cy="4968026"/>
            <a:chOff x="2967751" y="2237779"/>
            <a:chExt cx="8893341" cy="4583431"/>
          </a:xfrm>
        </p:grpSpPr>
        <p:sp>
          <p:nvSpPr>
            <p:cNvPr id="5" name="Shape 2"/>
            <p:cNvSpPr/>
            <p:nvPr/>
          </p:nvSpPr>
          <p:spPr>
            <a:xfrm>
              <a:off x="2990610" y="2237779"/>
              <a:ext cx="3042353" cy="2037239"/>
            </a:xfrm>
            <a:prstGeom prst="roundRect">
              <a:avLst>
                <a:gd name="adj" fmla="val 5629"/>
              </a:avLst>
            </a:prstGeom>
            <a:solidFill>
              <a:srgbClr val="0A081B">
                <a:alpha val="75000"/>
              </a:srgbClr>
            </a:solidFill>
            <a:ln w="22860">
              <a:solidFill>
                <a:srgbClr val="16FFBB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" name="Shape 3"/>
            <p:cNvSpPr/>
            <p:nvPr/>
          </p:nvSpPr>
          <p:spPr>
            <a:xfrm>
              <a:off x="2967751" y="2237779"/>
              <a:ext cx="100630" cy="2037239"/>
            </a:xfrm>
            <a:prstGeom prst="roundRect">
              <a:avLst>
                <a:gd name="adj" fmla="val 316406"/>
              </a:avLst>
            </a:prstGeom>
            <a:solidFill>
              <a:srgbClr val="16FFBB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7" name="Text 4"/>
            <p:cNvSpPr/>
            <p:nvPr/>
          </p:nvSpPr>
          <p:spPr>
            <a:xfrm>
              <a:off x="3274932" y="2453522"/>
              <a:ext cx="2358515" cy="2799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Spline Sans Bold" pitchFamily="34" charset="0"/>
                  <a:ea typeface="Spline Sans Bold" pitchFamily="34" charset="-122"/>
                  <a:cs typeface="Spline Sans Bold" pitchFamily="34" charset="-120"/>
                </a:rPr>
                <a:t>🔒</a:t>
              </a:r>
              <a:r>
                <a:rPr lang="en-US" sz="2000" b="1" dirty="0">
                  <a:solidFill>
                    <a:srgbClr val="E0E4E6"/>
                  </a:solidFill>
                  <a:latin typeface="Spline Sans Bold" pitchFamily="34" charset="0"/>
                  <a:ea typeface="Spline Sans Bold" pitchFamily="34" charset="-122"/>
                  <a:cs typeface="Spline Sans Bold" pitchFamily="34" charset="-120"/>
                </a:rPr>
                <a:t> Data Privacy</a:t>
              </a:r>
              <a:endParaRPr lang="en-US" sz="20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3274931" y="2872026"/>
              <a:ext cx="2492033" cy="11488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dirty="0">
                  <a:solidFill>
                    <a:srgbClr val="E0E4E6"/>
                  </a:solidFill>
                  <a:latin typeface="Barlow" pitchFamily="34" charset="0"/>
                  <a:ea typeface="Barlow" pitchFamily="34" charset="-122"/>
                  <a:cs typeface="Barlow" pitchFamily="34" charset="-120"/>
                </a:rPr>
                <a:t>Analysts must navigate regulations like GDPR and handle sensitive data responsibly.</a:t>
              </a:r>
              <a:endParaRPr lang="en-US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6175772" y="2237779"/>
              <a:ext cx="3042484" cy="2037239"/>
            </a:xfrm>
            <a:prstGeom prst="roundRect">
              <a:avLst>
                <a:gd name="adj" fmla="val 5629"/>
              </a:avLst>
            </a:prstGeom>
            <a:solidFill>
              <a:srgbClr val="0A081B">
                <a:alpha val="75000"/>
              </a:srgbClr>
            </a:solidFill>
            <a:ln w="22860">
              <a:solidFill>
                <a:srgbClr val="29DDDA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0" name="Shape 7"/>
            <p:cNvSpPr/>
            <p:nvPr/>
          </p:nvSpPr>
          <p:spPr>
            <a:xfrm>
              <a:off x="6152912" y="2237779"/>
              <a:ext cx="100630" cy="2037239"/>
            </a:xfrm>
            <a:prstGeom prst="roundRect">
              <a:avLst>
                <a:gd name="adj" fmla="val 316406"/>
              </a:avLst>
            </a:prstGeom>
            <a:solidFill>
              <a:srgbClr val="29DDDA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1" name="Text 8"/>
            <p:cNvSpPr/>
            <p:nvPr/>
          </p:nvSpPr>
          <p:spPr>
            <a:xfrm>
              <a:off x="6460093" y="2453522"/>
              <a:ext cx="2358515" cy="2799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Spline Sans Bold" pitchFamily="34" charset="0"/>
                  <a:ea typeface="Spline Sans Bold" pitchFamily="34" charset="-122"/>
                  <a:cs typeface="Spline Sans Bold" pitchFamily="34" charset="-120"/>
                </a:rPr>
                <a:t>✅</a:t>
              </a:r>
              <a:r>
                <a:rPr lang="en-US" sz="2000" b="1" dirty="0">
                  <a:solidFill>
                    <a:srgbClr val="E0E4E6"/>
                  </a:solidFill>
                  <a:latin typeface="Spline Sans Bold" pitchFamily="34" charset="0"/>
                  <a:ea typeface="Spline Sans Bold" pitchFamily="34" charset="-122"/>
                  <a:cs typeface="Spline Sans Bold" pitchFamily="34" charset="-120"/>
                </a:rPr>
                <a:t> Data Quality</a:t>
              </a:r>
              <a:endParaRPr lang="en-US" sz="20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460093" y="2872026"/>
              <a:ext cx="2492164" cy="8616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dirty="0">
                  <a:solidFill>
                    <a:srgbClr val="E0E4E6"/>
                  </a:solidFill>
                  <a:latin typeface="Barlow" pitchFamily="34" charset="0"/>
                  <a:ea typeface="Barlow" pitchFamily="34" charset="-122"/>
                  <a:cs typeface="Barlow" pitchFamily="34" charset="-120"/>
                </a:rPr>
                <a:t>Real-world data is rarely clean — spotting and fixing errors is a core skill.</a:t>
              </a:r>
              <a:endParaRPr lang="en-US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5448338" y="4503976"/>
              <a:ext cx="3042353" cy="2317234"/>
            </a:xfrm>
            <a:prstGeom prst="roundRect">
              <a:avLst>
                <a:gd name="adj" fmla="val 4949"/>
              </a:avLst>
            </a:prstGeom>
            <a:solidFill>
              <a:srgbClr val="0A081B">
                <a:alpha val="75000"/>
              </a:srgbClr>
            </a:solidFill>
            <a:ln w="22860">
              <a:solidFill>
                <a:srgbClr val="37A7E7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4" name="Shape 11"/>
            <p:cNvSpPr/>
            <p:nvPr/>
          </p:nvSpPr>
          <p:spPr>
            <a:xfrm>
              <a:off x="5425479" y="4503976"/>
              <a:ext cx="100630" cy="2317234"/>
            </a:xfrm>
            <a:prstGeom prst="roundRect">
              <a:avLst>
                <a:gd name="adj" fmla="val 316406"/>
              </a:avLst>
            </a:prstGeom>
            <a:solidFill>
              <a:srgbClr val="37A7E7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5" name="Text 12"/>
            <p:cNvSpPr/>
            <p:nvPr/>
          </p:nvSpPr>
          <p:spPr>
            <a:xfrm>
              <a:off x="5732660" y="4719717"/>
              <a:ext cx="2358515" cy="2799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Spline Sans Bold" pitchFamily="34" charset="0"/>
                  <a:ea typeface="Spline Sans Bold" pitchFamily="34" charset="-122"/>
                  <a:cs typeface="Spline Sans Bold" pitchFamily="34" charset="-120"/>
                </a:rPr>
                <a:t>📦</a:t>
              </a:r>
              <a:r>
                <a:rPr lang="en-US" sz="2000" b="1" dirty="0">
                  <a:solidFill>
                    <a:srgbClr val="E0E4E6"/>
                  </a:solidFill>
                  <a:latin typeface="Spline Sans Bold" pitchFamily="34" charset="0"/>
                  <a:ea typeface="Spline Sans Bold" pitchFamily="34" charset="-122"/>
                  <a:cs typeface="Spline Sans Bold" pitchFamily="34" charset="-120"/>
                </a:rPr>
                <a:t> Large Datasets</a:t>
              </a:r>
              <a:endParaRPr lang="en-US" sz="20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5732659" y="5138222"/>
              <a:ext cx="2492033" cy="11488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dirty="0">
                  <a:solidFill>
                    <a:srgbClr val="E0E4E6"/>
                  </a:solidFill>
                  <a:latin typeface="Barlow" pitchFamily="34" charset="0"/>
                  <a:ea typeface="Barlow" pitchFamily="34" charset="-122"/>
                  <a:cs typeface="Barlow" pitchFamily="34" charset="-120"/>
                </a:rPr>
                <a:t>Managing high-volume data requires the right tools and efficient thinking.</a:t>
              </a:r>
              <a:endParaRPr lang="en-US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8818608" y="4490761"/>
              <a:ext cx="3042484" cy="2317234"/>
            </a:xfrm>
            <a:prstGeom prst="roundRect">
              <a:avLst>
                <a:gd name="adj" fmla="val 4949"/>
              </a:avLst>
            </a:prstGeom>
            <a:solidFill>
              <a:srgbClr val="0A081B">
                <a:alpha val="75000"/>
              </a:srgbClr>
            </a:solidFill>
            <a:ln w="22860">
              <a:solidFill>
                <a:srgbClr val="29DDDA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8" name="Shape 15"/>
            <p:cNvSpPr/>
            <p:nvPr/>
          </p:nvSpPr>
          <p:spPr>
            <a:xfrm>
              <a:off x="8795748" y="4490761"/>
              <a:ext cx="100630" cy="2317234"/>
            </a:xfrm>
            <a:prstGeom prst="roundRect">
              <a:avLst>
                <a:gd name="adj" fmla="val 316406"/>
              </a:avLst>
            </a:prstGeom>
            <a:solidFill>
              <a:srgbClr val="29DDDA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9" name="Text 16"/>
            <p:cNvSpPr/>
            <p:nvPr/>
          </p:nvSpPr>
          <p:spPr>
            <a:xfrm>
              <a:off x="9102929" y="4706502"/>
              <a:ext cx="2492164" cy="5599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Spline Sans Bold" pitchFamily="34" charset="0"/>
                  <a:ea typeface="Spline Sans Bold" pitchFamily="34" charset="-122"/>
                  <a:cs typeface="Spline Sans Bold" pitchFamily="34" charset="-120"/>
                </a:rPr>
                <a:t>📚</a:t>
              </a:r>
              <a:r>
                <a:rPr lang="en-US" sz="2000" b="1" dirty="0">
                  <a:solidFill>
                    <a:srgbClr val="E0E4E6"/>
                  </a:solidFill>
                  <a:latin typeface="Spline Sans Bold" pitchFamily="34" charset="0"/>
                  <a:ea typeface="Spline Sans Bold" pitchFamily="34" charset="-122"/>
                  <a:cs typeface="Spline Sans Bold" pitchFamily="34" charset="-120"/>
                </a:rPr>
                <a:t> Continuous Learning</a:t>
              </a:r>
              <a:endParaRPr lang="en-US" sz="20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9102929" y="5392897"/>
              <a:ext cx="2492164" cy="11488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dirty="0">
                  <a:solidFill>
                    <a:srgbClr val="E0E4E6"/>
                  </a:solidFill>
                  <a:latin typeface="Barlow" pitchFamily="34" charset="0"/>
                  <a:ea typeface="Barlow" pitchFamily="34" charset="-122"/>
                  <a:cs typeface="Barlow" pitchFamily="34" charset="-120"/>
                </a:rPr>
                <a:t>The landscape shifts constantly — curiosity and adaptability are non-negotiable.</a:t>
              </a:r>
              <a:endParaRPr lang="en-US" dirty="0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/>
            </a:gs>
            <a:gs pos="48000">
              <a:srgbClr val="117D43"/>
            </a:gs>
            <a:gs pos="100000">
              <a:schemeClr val="tx1">
                <a:lumMod val="95000"/>
                <a:lumOff val="5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43562" y="432078"/>
            <a:ext cx="5192316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Prata" pitchFamily="34" charset="-122"/>
                <a:cs typeface="Prata" pitchFamily="34" charset="-120"/>
              </a:rPr>
              <a:t>Must-Have Skills for </a:t>
            </a:r>
          </a:p>
          <a:p>
            <a:pPr marL="0" indent="0" algn="l">
              <a:lnSpc>
                <a:spcPts val="305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Prata" pitchFamily="34" charset="-122"/>
                <a:cs typeface="Prata" pitchFamily="34" charset="-120"/>
              </a:rPr>
              <a:t>Data Analysts</a:t>
            </a:r>
            <a:endParaRPr lang="en-US" sz="3600" b="1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4916049-8CCB-8365-DA0F-90CD3E2EF8B9}"/>
              </a:ext>
            </a:extLst>
          </p:cNvPr>
          <p:cNvGrpSpPr/>
          <p:nvPr/>
        </p:nvGrpSpPr>
        <p:grpSpPr>
          <a:xfrm>
            <a:off x="5643562" y="1685371"/>
            <a:ext cx="8044101" cy="1249580"/>
            <a:chOff x="5643562" y="1685371"/>
            <a:chExt cx="8044101" cy="1249580"/>
          </a:xfrm>
        </p:grpSpPr>
        <p:sp>
          <p:nvSpPr>
            <p:cNvPr id="5" name="Shape 2"/>
            <p:cNvSpPr/>
            <p:nvPr/>
          </p:nvSpPr>
          <p:spPr>
            <a:xfrm>
              <a:off x="5643562" y="1771115"/>
              <a:ext cx="8044101" cy="1163836"/>
            </a:xfrm>
            <a:prstGeom prst="roundRect">
              <a:avLst>
                <a:gd name="adj" fmla="val 9428"/>
              </a:avLst>
            </a:prstGeom>
            <a:solidFill>
              <a:srgbClr val="1B1C1D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43562" y="1685371"/>
              <a:ext cx="8044101" cy="91440"/>
            </a:xfrm>
            <a:prstGeom prst="rect">
              <a:avLst/>
            </a:prstGeom>
          </p:spPr>
        </p:pic>
      </p:grpSp>
      <p:sp>
        <p:nvSpPr>
          <p:cNvPr id="9" name="Text 3"/>
          <p:cNvSpPr/>
          <p:nvPr/>
        </p:nvSpPr>
        <p:spPr>
          <a:xfrm>
            <a:off x="5823465" y="1954173"/>
            <a:ext cx="1964412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Analytical Thinking</a:t>
            </a:r>
            <a:endParaRPr lang="en-US" dirty="0"/>
          </a:p>
        </p:txBody>
      </p:sp>
      <p:sp>
        <p:nvSpPr>
          <p:cNvPr id="10" name="Text 4"/>
          <p:cNvSpPr/>
          <p:nvPr/>
        </p:nvSpPr>
        <p:spPr>
          <a:xfrm>
            <a:off x="5823465" y="2287966"/>
            <a:ext cx="7684294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Problem-solving and critical evaluation of data.</a:t>
            </a:r>
            <a:endParaRPr lang="en-US" sz="16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928" y="2859466"/>
            <a:ext cx="471368" cy="47136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2B2ECAFE-EEBD-275F-DF85-AD3D76DEB870}"/>
              </a:ext>
            </a:extLst>
          </p:cNvPr>
          <p:cNvGrpSpPr/>
          <p:nvPr/>
        </p:nvGrpSpPr>
        <p:grpSpPr>
          <a:xfrm>
            <a:off x="5643562" y="3137774"/>
            <a:ext cx="8044101" cy="1186696"/>
            <a:chOff x="5643562" y="3072230"/>
            <a:chExt cx="8044101" cy="1186696"/>
          </a:xfrm>
        </p:grpSpPr>
        <p:sp>
          <p:nvSpPr>
            <p:cNvPr id="11" name="Shape 5"/>
            <p:cNvSpPr/>
            <p:nvPr/>
          </p:nvSpPr>
          <p:spPr>
            <a:xfrm>
              <a:off x="5643562" y="3095090"/>
              <a:ext cx="8044101" cy="1163836"/>
            </a:xfrm>
            <a:prstGeom prst="roundRect">
              <a:avLst>
                <a:gd name="adj" fmla="val 9428"/>
              </a:avLst>
            </a:prstGeom>
            <a:solidFill>
              <a:srgbClr val="1B1C1D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2" name="Image 4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43562" y="3072230"/>
              <a:ext cx="8044101" cy="91440"/>
            </a:xfrm>
            <a:prstGeom prst="rect">
              <a:avLst/>
            </a:prstGeom>
          </p:spPr>
        </p:pic>
        <p:sp>
          <p:nvSpPr>
            <p:cNvPr id="15" name="Text 6"/>
            <p:cNvSpPr/>
            <p:nvPr/>
          </p:nvSpPr>
          <p:spPr>
            <a:xfrm>
              <a:off x="5823465" y="3335477"/>
              <a:ext cx="1964412" cy="2455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dirty="0">
                  <a:solidFill>
                    <a:srgbClr val="CFCBBF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Communication</a:t>
              </a:r>
              <a:endParaRPr lang="en-US" dirty="0"/>
            </a:p>
          </p:txBody>
        </p:sp>
        <p:sp>
          <p:nvSpPr>
            <p:cNvPr id="16" name="Text 7"/>
            <p:cNvSpPr/>
            <p:nvPr/>
          </p:nvSpPr>
          <p:spPr>
            <a:xfrm>
              <a:off x="5823465" y="3675163"/>
              <a:ext cx="7684294" cy="2514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600" dirty="0">
                  <a:solidFill>
                    <a:srgbClr val="CFCBB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Translating complex insights into clear narratives.</a:t>
              </a:r>
              <a:endParaRPr lang="en-US" sz="1600" dirty="0"/>
            </a:p>
          </p:txBody>
        </p:sp>
      </p:grp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928" y="4050210"/>
            <a:ext cx="471368" cy="47136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52D2F19-06BB-4BBF-F3CE-EF4D1CE64196}"/>
              </a:ext>
            </a:extLst>
          </p:cNvPr>
          <p:cNvGrpSpPr/>
          <p:nvPr/>
        </p:nvGrpSpPr>
        <p:grpSpPr>
          <a:xfrm>
            <a:off x="5643562" y="4527293"/>
            <a:ext cx="8044101" cy="1186696"/>
            <a:chOff x="5654991" y="4552892"/>
            <a:chExt cx="8044101" cy="1186696"/>
          </a:xfrm>
        </p:grpSpPr>
        <p:sp>
          <p:nvSpPr>
            <p:cNvPr id="17" name="Shape 8"/>
            <p:cNvSpPr/>
            <p:nvPr/>
          </p:nvSpPr>
          <p:spPr>
            <a:xfrm>
              <a:off x="5654991" y="4575752"/>
              <a:ext cx="8044101" cy="1163836"/>
            </a:xfrm>
            <a:prstGeom prst="roundRect">
              <a:avLst>
                <a:gd name="adj" fmla="val 9428"/>
              </a:avLst>
            </a:prstGeom>
            <a:solidFill>
              <a:srgbClr val="1B1C1D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8" name="Image 7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54991" y="4552892"/>
              <a:ext cx="8044101" cy="91440"/>
            </a:xfrm>
            <a:prstGeom prst="rect">
              <a:avLst/>
            </a:prstGeom>
          </p:spPr>
        </p:pic>
        <p:sp>
          <p:nvSpPr>
            <p:cNvPr id="21" name="Text 9"/>
            <p:cNvSpPr/>
            <p:nvPr/>
          </p:nvSpPr>
          <p:spPr>
            <a:xfrm>
              <a:off x="5834894" y="4968540"/>
              <a:ext cx="1964412" cy="2455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dirty="0">
                  <a:solidFill>
                    <a:srgbClr val="CFCBBF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Business Acumen</a:t>
              </a:r>
              <a:endParaRPr lang="en-US" dirty="0"/>
            </a:p>
          </p:txBody>
        </p:sp>
        <p:sp>
          <p:nvSpPr>
            <p:cNvPr id="22" name="Text 10"/>
            <p:cNvSpPr/>
            <p:nvPr/>
          </p:nvSpPr>
          <p:spPr>
            <a:xfrm>
              <a:off x="5834894" y="5308225"/>
              <a:ext cx="7684294" cy="2514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600" dirty="0">
                  <a:solidFill>
                    <a:srgbClr val="CFCBB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Understanding business context and objectives.</a:t>
              </a:r>
              <a:endParaRPr lang="en-US" sz="16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8438867-9CB0-D81A-CF66-C0EB9EA95B52}"/>
              </a:ext>
            </a:extLst>
          </p:cNvPr>
          <p:cNvGrpSpPr/>
          <p:nvPr/>
        </p:nvGrpSpPr>
        <p:grpSpPr>
          <a:xfrm>
            <a:off x="5643562" y="5916812"/>
            <a:ext cx="8044101" cy="1186696"/>
            <a:chOff x="5643562" y="5819478"/>
            <a:chExt cx="8044101" cy="1186696"/>
          </a:xfrm>
        </p:grpSpPr>
        <p:sp>
          <p:nvSpPr>
            <p:cNvPr id="23" name="Shape 11"/>
            <p:cNvSpPr/>
            <p:nvPr/>
          </p:nvSpPr>
          <p:spPr>
            <a:xfrm>
              <a:off x="5643562" y="5842338"/>
              <a:ext cx="8044101" cy="1163836"/>
            </a:xfrm>
            <a:prstGeom prst="roundRect">
              <a:avLst>
                <a:gd name="adj" fmla="val 9428"/>
              </a:avLst>
            </a:prstGeom>
            <a:solidFill>
              <a:srgbClr val="1B1C1D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24" name="Image 10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43562" y="5819478"/>
              <a:ext cx="8044101" cy="91440"/>
            </a:xfrm>
            <a:prstGeom prst="rect">
              <a:avLst/>
            </a:prstGeom>
          </p:spPr>
        </p:pic>
        <p:sp>
          <p:nvSpPr>
            <p:cNvPr id="27" name="Text 12"/>
            <p:cNvSpPr/>
            <p:nvPr/>
          </p:nvSpPr>
          <p:spPr>
            <a:xfrm>
              <a:off x="5823465" y="6235126"/>
              <a:ext cx="2023467" cy="2455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dirty="0">
                  <a:solidFill>
                    <a:srgbClr val="CFCBBF"/>
                  </a:solidFill>
                  <a:latin typeface="Prata" pitchFamily="34" charset="0"/>
                  <a:ea typeface="Prata" pitchFamily="34" charset="-122"/>
                  <a:cs typeface="Prata" pitchFamily="34" charset="-120"/>
                </a:rPr>
                <a:t>Statistical Knowledge</a:t>
              </a:r>
              <a:endParaRPr lang="en-US" dirty="0"/>
            </a:p>
          </p:txBody>
        </p:sp>
        <p:sp>
          <p:nvSpPr>
            <p:cNvPr id="28" name="Text 13"/>
            <p:cNvSpPr/>
            <p:nvPr/>
          </p:nvSpPr>
          <p:spPr>
            <a:xfrm>
              <a:off x="5823465" y="6574811"/>
              <a:ext cx="7684294" cy="2514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600" dirty="0">
                  <a:solidFill>
                    <a:srgbClr val="CFCBBF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Applying statistical methods for robust analysis.</a:t>
              </a:r>
              <a:endParaRPr lang="en-US" sz="1600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C930F73-137E-3C55-6431-A0DCE1F00E9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453" t="2924" r="24844" b="-2924"/>
          <a:stretch>
            <a:fillRect/>
          </a:stretch>
        </p:blipFill>
        <p:spPr>
          <a:xfrm>
            <a:off x="0" y="101600"/>
            <a:ext cx="5486400" cy="74803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/>
            </a:gs>
            <a:gs pos="48000">
              <a:srgbClr val="117D43"/>
            </a:gs>
            <a:gs pos="100000">
              <a:schemeClr val="tx1">
                <a:lumMod val="95000"/>
                <a:lumOff val="5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1814" y="3764583"/>
            <a:ext cx="5045221" cy="619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is Microsoft Excel ?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>
          <a:gsLst>
            <a:gs pos="0">
              <a:schemeClr val="accent6"/>
            </a:gs>
            <a:gs pos="48000">
              <a:srgbClr val="117D43"/>
            </a:gs>
            <a:gs pos="100000">
              <a:schemeClr val="tx1">
                <a:lumMod val="95000"/>
                <a:lumOff val="5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5990" y="537289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is Microsoft Excel ?</a:t>
            </a: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70930" y="150364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400" b="1" dirty="0">
                <a:solidFill>
                  <a:schemeClr val="bg1"/>
                </a:solidFill>
              </a:rPr>
              <a:t>Microsoft Excel</a:t>
            </a:r>
            <a:r>
              <a:rPr lang="en-US" sz="2400" dirty="0">
                <a:solidFill>
                  <a:schemeClr val="bg1"/>
                </a:solidFill>
              </a:rPr>
              <a:t> is a software program used to </a:t>
            </a:r>
            <a:r>
              <a:rPr lang="en-US" sz="2400" b="1" dirty="0">
                <a:solidFill>
                  <a:schemeClr val="bg1"/>
                </a:solidFill>
              </a:rPr>
              <a:t>organize, calculate, and analyze data</a:t>
            </a:r>
            <a:r>
              <a:rPr lang="en-US" sz="2400" dirty="0">
                <a:solidFill>
                  <a:schemeClr val="bg1"/>
                </a:solidFill>
              </a:rPr>
              <a:t> in a spreadsheet format.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391520" y="2595564"/>
            <a:ext cx="6422231" cy="1950361"/>
          </a:xfrm>
          <a:prstGeom prst="roundRect">
            <a:avLst>
              <a:gd name="adj" fmla="val 7282"/>
            </a:avLst>
          </a:prstGeom>
          <a:solidFill>
            <a:schemeClr val="bg2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68660" y="2595564"/>
            <a:ext cx="91440" cy="1950361"/>
          </a:xfrm>
          <a:prstGeom prst="roundRect">
            <a:avLst>
              <a:gd name="adj" fmla="val 32558"/>
            </a:avLst>
          </a:prstGeom>
          <a:solidFill>
            <a:srgbClr val="F5F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81318" y="2670693"/>
            <a:ext cx="2480905" cy="2139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Organize Data</a:t>
            </a:r>
          </a:p>
          <a:p>
            <a:pPr marL="0" indent="0" algn="l">
              <a:buNone/>
            </a:pPr>
            <a:endParaRPr lang="en-US" sz="1000" dirty="0"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Sorting</a:t>
            </a:r>
            <a:r>
              <a:rPr lang="en-US" sz="2000" dirty="0"/>
              <a:t> (A→Z, highest to lowest)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Filtering</a:t>
            </a:r>
            <a:r>
              <a:rPr lang="en-US" sz="2000" dirty="0"/>
              <a:t> (show only specific data)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Tables &amp; formatting</a:t>
            </a:r>
            <a:r>
              <a:rPr lang="en-US" sz="2000" dirty="0"/>
              <a:t> (colors, borders)</a:t>
            </a:r>
          </a:p>
        </p:txBody>
      </p:sp>
      <p:sp>
        <p:nvSpPr>
          <p:cNvPr id="8" name="Shape 6"/>
          <p:cNvSpPr/>
          <p:nvPr/>
        </p:nvSpPr>
        <p:spPr>
          <a:xfrm>
            <a:off x="816650" y="4640263"/>
            <a:ext cx="6422231" cy="1950361"/>
          </a:xfrm>
          <a:prstGeom prst="roundRect">
            <a:avLst>
              <a:gd name="adj" fmla="val 7282"/>
            </a:avLst>
          </a:prstGeom>
          <a:solidFill>
            <a:schemeClr val="bg2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3790" y="4640263"/>
            <a:ext cx="91440" cy="1950361"/>
          </a:xfrm>
          <a:prstGeom prst="roundRect">
            <a:avLst>
              <a:gd name="adj" fmla="val 32558"/>
            </a:avLst>
          </a:prstGeom>
          <a:solidFill>
            <a:srgbClr val="F5F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60728" y="4710589"/>
            <a:ext cx="2480905" cy="40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000" b="1" dirty="0">
                <a:latin typeface="Instrument Sans Medium" pitchFamily="34" charset="0"/>
              </a:rPr>
              <a:t>Calculate Data</a:t>
            </a:r>
          </a:p>
          <a:p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 need to calculate manually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Results update automatically when data changes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Supports complex math, finance, and statistics</a:t>
            </a:r>
          </a:p>
        </p:txBody>
      </p:sp>
      <p:sp>
        <p:nvSpPr>
          <p:cNvPr id="12" name="Shape 10"/>
          <p:cNvSpPr/>
          <p:nvPr/>
        </p:nvSpPr>
        <p:spPr>
          <a:xfrm>
            <a:off x="7391520" y="4640263"/>
            <a:ext cx="6422231" cy="1950361"/>
          </a:xfrm>
          <a:prstGeom prst="roundRect">
            <a:avLst>
              <a:gd name="adj" fmla="val 7282"/>
            </a:avLst>
          </a:prstGeom>
          <a:solidFill>
            <a:schemeClr val="bg2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68660" y="4640263"/>
            <a:ext cx="91440" cy="1950361"/>
          </a:xfrm>
          <a:prstGeom prst="roundRect">
            <a:avLst>
              <a:gd name="adj" fmla="val 32558"/>
            </a:avLst>
          </a:prstGeom>
          <a:solidFill>
            <a:srgbClr val="F5F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81318" y="4710589"/>
            <a:ext cx="2480905" cy="40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000" b="1" dirty="0">
                <a:latin typeface="Instrument Sans Medium" pitchFamily="34" charset="0"/>
              </a:rPr>
              <a:t>Analyze Data</a:t>
            </a:r>
          </a:p>
          <a:p>
            <a:endParaRPr lang="en-US" sz="1000" b="1" dirty="0">
              <a:latin typeface="Instrument Sans Medium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Charts &amp; graphs</a:t>
            </a:r>
            <a:r>
              <a:rPr lang="en-US" sz="2000" dirty="0"/>
              <a:t> (bar, pie, line)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Pivot Tables</a:t>
            </a:r>
            <a:r>
              <a:rPr lang="en-US" sz="2000" dirty="0"/>
              <a:t> (summarize large data quickly)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Conditional formatting</a:t>
            </a:r>
            <a:r>
              <a:rPr lang="en-US" sz="2000" dirty="0"/>
              <a:t> (highlight trends)</a:t>
            </a:r>
            <a:endParaRPr lang="en-US" sz="2000" b="1" dirty="0">
              <a:latin typeface="Instrument Sans Medium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6650" y="2595564"/>
            <a:ext cx="6422231" cy="1950361"/>
          </a:xfrm>
          <a:prstGeom prst="roundRect">
            <a:avLst>
              <a:gd name="adj" fmla="val 7282"/>
            </a:avLst>
          </a:prstGeom>
          <a:solidFill>
            <a:schemeClr val="bg2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93790" y="2595564"/>
            <a:ext cx="91440" cy="1950361"/>
          </a:xfrm>
          <a:prstGeom prst="roundRect">
            <a:avLst>
              <a:gd name="adj" fmla="val 32558"/>
            </a:avLst>
          </a:prstGeom>
          <a:solidFill>
            <a:srgbClr val="F5F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06448" y="2670693"/>
            <a:ext cx="2480905" cy="40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000" b="1" dirty="0">
                <a:latin typeface="Instrument Sans Medium" pitchFamily="34" charset="0"/>
              </a:rPr>
              <a:t>Spreadsheet Format</a:t>
            </a:r>
          </a:p>
          <a:p>
            <a:endParaRPr lang="en-US" sz="1000" b="1" dirty="0">
              <a:latin typeface="Instrument Sans Medium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Cell</a:t>
            </a:r>
            <a:r>
              <a:rPr lang="en-US" sz="2000" dirty="0"/>
              <a:t> → single box (e.g., A1)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Worksheet</a:t>
            </a:r>
            <a:r>
              <a:rPr lang="en-US" sz="2000" dirty="0"/>
              <a:t> → one sheet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Workbook</a:t>
            </a:r>
            <a:r>
              <a:rPr lang="en-US" sz="2000" dirty="0"/>
              <a:t> → entire Excel file (multiple sheets)</a:t>
            </a:r>
            <a:endParaRPr lang="en-US" sz="2000" b="1" dirty="0">
              <a:latin typeface="Instrument Sans Medium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2035BF-CCE1-F5BA-E7B8-C473E57923F7}"/>
              </a:ext>
            </a:extLst>
          </p:cNvPr>
          <p:cNvSpPr txBox="1"/>
          <p:nvPr/>
        </p:nvSpPr>
        <p:spPr>
          <a:xfrm>
            <a:off x="11836400" y="4114800"/>
            <a:ext cx="1881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 Many More…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C862A1-9695-396A-6759-90FBD3BB6C01}"/>
              </a:ext>
            </a:extLst>
          </p:cNvPr>
          <p:cNvSpPr txBox="1"/>
          <p:nvPr/>
        </p:nvSpPr>
        <p:spPr>
          <a:xfrm>
            <a:off x="5342412" y="4114800"/>
            <a:ext cx="1881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 Many More…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1B4446-6EFD-AE29-EFF9-EA4B22FB9ACC}"/>
              </a:ext>
            </a:extLst>
          </p:cNvPr>
          <p:cNvSpPr txBox="1"/>
          <p:nvPr/>
        </p:nvSpPr>
        <p:spPr>
          <a:xfrm>
            <a:off x="11836400" y="6144727"/>
            <a:ext cx="1881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 Many More…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79B3DF-6750-EF74-1DEB-534F952233C9}"/>
              </a:ext>
            </a:extLst>
          </p:cNvPr>
          <p:cNvSpPr txBox="1"/>
          <p:nvPr/>
        </p:nvSpPr>
        <p:spPr>
          <a:xfrm>
            <a:off x="5342412" y="6144727"/>
            <a:ext cx="1881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 Many More…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/>
            </a:gs>
            <a:gs pos="48000">
              <a:srgbClr val="117D43"/>
            </a:gs>
            <a:gs pos="100000">
              <a:schemeClr val="tx1">
                <a:lumMod val="95000"/>
                <a:lumOff val="5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C930F73-137E-3C55-6431-A0DCE1F00E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453" t="2924" r="24844" b="230"/>
          <a:stretch>
            <a:fillRect/>
          </a:stretch>
        </p:blipFill>
        <p:spPr>
          <a:xfrm>
            <a:off x="38101" y="106320"/>
            <a:ext cx="5515689" cy="740664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D8F36FCE-0D7E-24EF-B9EA-39E47D170B4D}"/>
              </a:ext>
            </a:extLst>
          </p:cNvPr>
          <p:cNvSpPr/>
          <p:nvPr/>
        </p:nvSpPr>
        <p:spPr>
          <a:xfrm>
            <a:off x="5809020" y="2844600"/>
            <a:ext cx="554628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66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Thank You learners..</a:t>
            </a:r>
            <a:endParaRPr lang="en-US" sz="66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3EDD5FD-81EE-34A1-9954-090DCC6B3F81}"/>
              </a:ext>
            </a:extLst>
          </p:cNvPr>
          <p:cNvSpPr/>
          <p:nvPr/>
        </p:nvSpPr>
        <p:spPr>
          <a:xfrm>
            <a:off x="5809020" y="3751876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3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Let's explore </a:t>
            </a:r>
            <a:r>
              <a:rPr lang="en-US" sz="4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Excel. </a:t>
            </a:r>
            <a:endParaRPr lang="en-US" sz="3600" b="1" dirty="0">
              <a:solidFill>
                <a:srgbClr val="FFC00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803</TotalTime>
  <Words>919</Words>
  <Application>Microsoft Office PowerPoint</Application>
  <PresentationFormat>Custom</PresentationFormat>
  <Paragraphs>152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Wingdings</vt:lpstr>
      <vt:lpstr>Calibri</vt:lpstr>
      <vt:lpstr>Raleway</vt:lpstr>
      <vt:lpstr>Aptos</vt:lpstr>
      <vt:lpstr>Spline Sans Bold</vt:lpstr>
      <vt:lpstr>Open Sans</vt:lpstr>
      <vt:lpstr>Barlow</vt:lpstr>
      <vt:lpstr>Arial</vt:lpstr>
      <vt:lpstr>Instrument Sans Medium</vt:lpstr>
      <vt:lpstr>Prata</vt:lpstr>
      <vt:lpstr>Office Theme</vt:lpstr>
      <vt:lpstr>1_Office Theme</vt:lpstr>
      <vt:lpstr>PowerPoint Presentation</vt:lpstr>
      <vt:lpstr>About the Trainer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MASUD</dc:creator>
  <cp:lastModifiedBy>a30372</cp:lastModifiedBy>
  <cp:revision>24</cp:revision>
  <dcterms:created xsi:type="dcterms:W3CDTF">2025-12-03T17:14:08Z</dcterms:created>
  <dcterms:modified xsi:type="dcterms:W3CDTF">2026-07-07T15:13:06Z</dcterms:modified>
</cp:coreProperties>
</file>